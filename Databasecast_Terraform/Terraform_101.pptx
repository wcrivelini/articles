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4"/>
  </p:notesMasterIdLst>
  <p:handoutMasterIdLst>
    <p:handoutMasterId r:id="rId25"/>
  </p:handoutMasterIdLst>
  <p:sldIdLst>
    <p:sldId id="415" r:id="rId5"/>
    <p:sldId id="420" r:id="rId6"/>
    <p:sldId id="421" r:id="rId7"/>
    <p:sldId id="422" r:id="rId8"/>
    <p:sldId id="423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9" r:id="rId19"/>
    <p:sldId id="440" r:id="rId20"/>
    <p:sldId id="441" r:id="rId21"/>
    <p:sldId id="447" r:id="rId22"/>
    <p:sldId id="45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DB8"/>
    <a:srgbClr val="1B192E"/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4" autoAdjust="0"/>
    <p:restoredTop sz="89542" autoAdjust="0"/>
  </p:normalViewPr>
  <p:slideViewPr>
    <p:cSldViewPr snapToGrid="0">
      <p:cViewPr varScale="1">
        <p:scale>
          <a:sx n="71" d="100"/>
          <a:sy n="71" d="100"/>
        </p:scale>
        <p:origin x="1632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1393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043"/>
    </p:cViewPr>
  </p:sorterViewPr>
  <p:notesViewPr>
    <p:cSldViewPr snapToGrid="0">
      <p:cViewPr varScale="1">
        <p:scale>
          <a:sx n="48" d="100"/>
          <a:sy n="48" d="100"/>
        </p:scale>
        <p:origin x="1911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gner crivelini" userId="3ed90a791ea13f86" providerId="LiveId" clId="{7F8844D8-B7EC-4A95-BF26-9304790E6B95}"/>
    <pc:docChg chg="undo custSel addSld delSld modSld sldOrd delSection modSection">
      <pc:chgData name="wagner crivelini" userId="3ed90a791ea13f86" providerId="LiveId" clId="{7F8844D8-B7EC-4A95-BF26-9304790E6B95}" dt="2026-10-27T20:02:27.204" v="1968" actId="17851"/>
      <pc:docMkLst>
        <pc:docMk/>
      </pc:docMkLst>
      <pc:sldChg chg="del mod modShow">
        <pc:chgData name="wagner crivelini" userId="3ed90a791ea13f86" providerId="LiveId" clId="{7F8844D8-B7EC-4A95-BF26-9304790E6B95}" dt="2026-10-27T18:35:48.040" v="1954" actId="47"/>
        <pc:sldMkLst>
          <pc:docMk/>
          <pc:sldMk cId="2313234867" sldId="389"/>
        </pc:sldMkLst>
      </pc:sldChg>
      <pc:sldChg chg="del mod modShow">
        <pc:chgData name="wagner crivelini" userId="3ed90a791ea13f86" providerId="LiveId" clId="{7F8844D8-B7EC-4A95-BF26-9304790E6B95}" dt="2026-10-27T18:35:48.040" v="1954" actId="47"/>
        <pc:sldMkLst>
          <pc:docMk/>
          <pc:sldMk cId="94851556" sldId="392"/>
        </pc:sldMkLst>
      </pc:sldChg>
      <pc:sldChg chg="del mod modShow">
        <pc:chgData name="wagner crivelini" userId="3ed90a791ea13f86" providerId="LiveId" clId="{7F8844D8-B7EC-4A95-BF26-9304790E6B95}" dt="2026-10-27T18:35:48.040" v="1954" actId="47"/>
        <pc:sldMkLst>
          <pc:docMk/>
          <pc:sldMk cId="4232173365" sldId="414"/>
        </pc:sldMkLst>
      </pc:sldChg>
      <pc:sldChg chg="del mod modShow">
        <pc:chgData name="wagner crivelini" userId="3ed90a791ea13f86" providerId="LiveId" clId="{7F8844D8-B7EC-4A95-BF26-9304790E6B95}" dt="2026-10-27T18:36:32.401" v="1956" actId="2696"/>
        <pc:sldMkLst>
          <pc:docMk/>
          <pc:sldMk cId="2361026680" sldId="416"/>
        </pc:sldMkLst>
      </pc:sldChg>
      <pc:sldChg chg="del mod modShow">
        <pc:chgData name="wagner crivelini" userId="3ed90a791ea13f86" providerId="LiveId" clId="{7F8844D8-B7EC-4A95-BF26-9304790E6B95}" dt="2026-10-27T18:36:40.372" v="1957" actId="2696"/>
        <pc:sldMkLst>
          <pc:docMk/>
          <pc:sldMk cId="2347381905" sldId="426"/>
        </pc:sldMkLst>
      </pc:sldChg>
      <pc:sldChg chg="del mod modShow">
        <pc:chgData name="wagner crivelini" userId="3ed90a791ea13f86" providerId="LiveId" clId="{7F8844D8-B7EC-4A95-BF26-9304790E6B95}" dt="2026-10-27T20:01:41.509" v="1959" actId="2696"/>
        <pc:sldMkLst>
          <pc:docMk/>
          <pc:sldMk cId="627170874" sldId="442"/>
        </pc:sldMkLst>
      </pc:sldChg>
      <pc:sldChg chg="del mod modShow">
        <pc:chgData name="wagner crivelini" userId="3ed90a791ea13f86" providerId="LiveId" clId="{7F8844D8-B7EC-4A95-BF26-9304790E6B95}" dt="2026-10-27T18:35:58.451" v="1955" actId="2696"/>
        <pc:sldMkLst>
          <pc:docMk/>
          <pc:sldMk cId="583250149" sldId="444"/>
        </pc:sldMkLst>
      </pc:sldChg>
      <pc:sldChg chg="del mod modShow">
        <pc:chgData name="wagner crivelini" userId="3ed90a791ea13f86" providerId="LiveId" clId="{7F8844D8-B7EC-4A95-BF26-9304790E6B95}" dt="2026-10-27T20:01:36.994" v="1958" actId="2696"/>
        <pc:sldMkLst>
          <pc:docMk/>
          <pc:sldMk cId="4061125109" sldId="445"/>
        </pc:sldMkLst>
      </pc:sldChg>
      <pc:sldChg chg="del">
        <pc:chgData name="wagner crivelini" userId="3ed90a791ea13f86" providerId="LiveId" clId="{7F8844D8-B7EC-4A95-BF26-9304790E6B95}" dt="2026-10-27T18:34:33.944" v="1951" actId="2696"/>
        <pc:sldMkLst>
          <pc:docMk/>
          <pc:sldMk cId="1405300798" sldId="446"/>
        </pc:sldMkLst>
      </pc:sldChg>
      <pc:sldChg chg="del">
        <pc:chgData name="wagner crivelini" userId="3ed90a791ea13f86" providerId="LiveId" clId="{7F8844D8-B7EC-4A95-BF26-9304790E6B95}" dt="2026-10-27T18:34:37.760" v="1952" actId="2696"/>
        <pc:sldMkLst>
          <pc:docMk/>
          <pc:sldMk cId="1206080688" sldId="448"/>
        </pc:sldMkLst>
      </pc:sldChg>
      <pc:sldChg chg="del">
        <pc:chgData name="wagner crivelini" userId="3ed90a791ea13f86" providerId="LiveId" clId="{7F8844D8-B7EC-4A95-BF26-9304790E6B95}" dt="2026-10-27T18:34:41.738" v="1953" actId="2696"/>
        <pc:sldMkLst>
          <pc:docMk/>
          <pc:sldMk cId="2768477925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F2C1D-F243-42AB-ADF2-E7CB4E04900E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CDBB5-5B4A-4483-935D-A73935186B4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E34E-5667-4A32-A6BA-10C7A552BC63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CE34D-CFF1-4FFE-815B-D050E7ED2D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89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97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00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826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29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TERRAFORM assume que não existem os objetos na nuvem caso ele não encontre o arquivo TFSTATE.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207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084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171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Nomes de scripts são customizáveis, desde que tenham extensão “tf” ou “json”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879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62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980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MÓDULOS</a:t>
            </a:r>
            <a:br>
              <a:rPr lang="pt-BR" dirty="0"/>
            </a:br>
            <a:r>
              <a:rPr lang="pt-BR" dirty="0"/>
              <a:t>QUADRO 1 – à esquerda os nomes definidos para os parâmetros do recurso segundo o provedor escolhido</a:t>
            </a:r>
            <a:br>
              <a:rPr lang="pt-BR" dirty="0"/>
            </a:br>
            <a:r>
              <a:rPr lang="pt-BR" dirty="0"/>
              <a:t>                      à direita temos os nomes das variáveis consideradas no módulo</a:t>
            </a:r>
          </a:p>
          <a:p>
            <a:r>
              <a:rPr lang="pt-BR" dirty="0"/>
              <a:t>QUADRO 2 – definições de nomes, tipos de dados e descrição das variáveis usadas por este recurso</a:t>
            </a:r>
          </a:p>
          <a:p>
            <a:r>
              <a:rPr lang="pt-BR" dirty="0"/>
              <a:t>QUADRO 3 – definições das variáveis de saída coletadas após a criação do recurso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23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ARQUIVOS DO PROJETO</a:t>
            </a:r>
            <a:br>
              <a:rPr lang="pt-BR" dirty="0"/>
            </a:br>
            <a:r>
              <a:rPr lang="pt-BR" dirty="0"/>
              <a:t>QUADRO 1 – arquivo principal, que mapeia cada variável de projeto para a variável de módulo correspondente</a:t>
            </a:r>
          </a:p>
          <a:p>
            <a:r>
              <a:rPr lang="pt-BR" dirty="0"/>
              <a:t>QUADRO 2 – arquivo VARIABLES define as variáveis usadas no projeto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90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ARQUIVOS DO PROJETO</a:t>
            </a:r>
            <a:br>
              <a:rPr lang="pt-BR" dirty="0"/>
            </a:br>
            <a:r>
              <a:rPr lang="pt-BR" dirty="0"/>
              <a:t>QUADRO 3 – arquivos “[xxx].auto.tfvars” atribuem valores que serão usados para cada recurso</a:t>
            </a:r>
          </a:p>
          <a:p>
            <a:r>
              <a:rPr lang="pt-BR" dirty="0"/>
              <a:t>QUADRO 4 – arquivo LOCALS define variáveis compostas usadas no projeto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62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976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191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Observe que criamos primeiro o workspace do SYNAPSE e depois o Synapse SQL Pool (que faz referência ao ID do workspace e ainda acrescenta a condição DEPENDS_ON)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7353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952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60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Autofit/>
          </a:bodyPr>
          <a:lstStyle/>
          <a:p>
            <a:r>
              <a:rPr lang="en-US" sz="4800" dirty="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anchor="t" anchorCtr="0">
            <a:noAutofit/>
          </a:bodyPr>
          <a:lstStyle>
            <a:lvl1pPr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en-US" sz="1600" dirty="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F2B8-49ED-47F8-C900-02884341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008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The Parking Lot Example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4" y="1731375"/>
            <a:ext cx="3563936" cy="535354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Batch </a:t>
            </a:r>
            <a:r>
              <a:rPr lang="en-US" dirty="0" err="1"/>
              <a:t>aNALYSIS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13547" y="2459172"/>
            <a:ext cx="3563936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How many yellow cars are in the parking lot?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REAL TIME ANALYSIS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139659" y="2427370"/>
            <a:ext cx="3508755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How many yellow cars exit the parking lot per hour? </a:t>
            </a:r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Title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>
            <a:noAutofit/>
          </a:bodyPr>
          <a:lstStyle/>
          <a:p>
            <a:r>
              <a:rPr lang="en-US" dirty="0"/>
              <a:t>Team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8" name="Picture Placeholder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735" r:id="rId6"/>
    <p:sldLayoutId id="2147483697" r:id="rId7"/>
    <p:sldLayoutId id="2147483686" r:id="rId8"/>
    <p:sldLayoutId id="2147483696" r:id="rId9"/>
    <p:sldLayoutId id="2147483707" r:id="rId10"/>
    <p:sldLayoutId id="2147483689" r:id="rId11"/>
    <p:sldLayoutId id="2147483731" r:id="rId12"/>
    <p:sldLayoutId id="2147483693" r:id="rId13"/>
    <p:sldLayoutId id="2147483685" r:id="rId14"/>
    <p:sldLayoutId id="2147483688" r:id="rId15"/>
    <p:sldLayoutId id="2147483691" r:id="rId16"/>
    <p:sldLayoutId id="2147483692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terraform.io/download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registry.terraform.io/providers/hashicorp/azurerm/latest/doc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registry.terraform.io/providers/hashicorp/azurerm/latest/docs/resources/resource_group)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3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azurenames" TargetMode="External"/><Relationship Id="rId3" Type="http://schemas.openxmlformats.org/officeDocument/2006/relationships/image" Target="../media/image5.png"/><Relationship Id="rId7" Type="http://schemas.microsoft.com/office/2007/relationships/hdphoto" Target="../media/hdphoto4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qlservercentral.com/articles/database-deployment-with-terraform-modules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sqlservercentral.com/articles/database-deployment-with-terraform-the-basic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github.com/wcrivelini/articles/tree/main/Azure_Terraform" TargetMode="Externa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6000" contras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0" cy="6804837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867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>
                <a:latin typeface="+mj-lt"/>
              </a:rPr>
              <a:t>Introdução</a:t>
            </a:r>
            <a:r>
              <a:rPr lang="pt-BR" sz="3000" noProof="0" dirty="0">
                <a:latin typeface="+mj-lt"/>
              </a:rPr>
              <a:t> ao Terraform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7795B9-F850-45B6-9AE0-50D44F46F15D}"/>
              </a:ext>
            </a:extLst>
          </p:cNvPr>
          <p:cNvSpPr txBox="1"/>
          <p:nvPr/>
        </p:nvSpPr>
        <p:spPr>
          <a:xfrm>
            <a:off x="164124" y="2118536"/>
            <a:ext cx="34185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Walbaum Display (Títulos)"/>
              </a:rPr>
              <a:t>Infrastructure as Code (IaC) adotado em larga escala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noProof="0" dirty="0">
              <a:latin typeface="Walbaum Display (Títulos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Walbaum Display (Títulos)"/>
              </a:rPr>
              <a:t>Adoção de Terraform (HashiCorp) cresce rapidamente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B912B79E-7656-4143-9187-0F0702656E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82676" y="1418895"/>
            <a:ext cx="8270599" cy="461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867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>
                <a:latin typeface="+mj-lt"/>
              </a:rPr>
              <a:t>Introdução – “Getting Started”</a:t>
            </a:r>
            <a:endParaRPr lang="pt-BR" sz="3000" noProof="0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30C2E48-90E2-48DB-A9F3-656151C8814B}"/>
              </a:ext>
            </a:extLst>
          </p:cNvPr>
          <p:cNvSpPr txBox="1"/>
          <p:nvPr/>
        </p:nvSpPr>
        <p:spPr>
          <a:xfrm>
            <a:off x="746572" y="1557361"/>
            <a:ext cx="95346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>
                <a:latin typeface="+mj-lt"/>
              </a:rPr>
              <a:t>Você pode instalar localmente e rodar com VS CODE / CMD</a:t>
            </a:r>
          </a:p>
          <a:p>
            <a:r>
              <a:rPr lang="pt-BR" sz="2800" noProof="0" dirty="0">
                <a:latin typeface="+mj-lt"/>
                <a:hlinkClick r:id="rId7"/>
              </a:rPr>
              <a:t>https://www.terraform.io/downloads</a:t>
            </a:r>
            <a:endParaRPr lang="pt-BR" sz="2800" noProof="0" dirty="0"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86A9A7-BD1C-48EE-B76D-48AF8F4D40F8}"/>
              </a:ext>
            </a:extLst>
          </p:cNvPr>
          <p:cNvSpPr txBox="1"/>
          <p:nvPr/>
        </p:nvSpPr>
        <p:spPr>
          <a:xfrm>
            <a:off x="746572" y="2696020"/>
            <a:ext cx="109488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>
                <a:latin typeface="+mj-lt"/>
              </a:rPr>
              <a:t>Comandos básicos:</a:t>
            </a:r>
          </a:p>
          <a:p>
            <a:endParaRPr lang="pt-BR" sz="2400" noProof="0" dirty="0">
              <a:latin typeface="+mj-lt"/>
            </a:endParaRPr>
          </a:p>
          <a:p>
            <a:pPr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	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C:\TEMP\terraform init </a:t>
            </a:r>
          </a:p>
          <a:p>
            <a:pPr>
              <a:spcAft>
                <a:spcPts val="1200"/>
              </a:spcAft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	C:\TEMP\terraform validate   #seus scripts</a:t>
            </a:r>
          </a:p>
          <a:p>
            <a:pPr>
              <a:spcAft>
                <a:spcPts val="1200"/>
              </a:spcAft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	C:\TEMP\terraform plan        #plano de execução dos scripts</a:t>
            </a:r>
          </a:p>
          <a:p>
            <a:pPr>
              <a:spcAft>
                <a:spcPts val="1200"/>
              </a:spcAft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	C:\TEMP\terraform apply       #executa scripts</a:t>
            </a:r>
          </a:p>
          <a:p>
            <a:pPr>
              <a:spcAft>
                <a:spcPts val="1200"/>
              </a:spcAft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	C:\TEMP\terraform destroy   #caso necessite fazer “rollback”</a:t>
            </a:r>
          </a:p>
          <a:p>
            <a:pPr>
              <a:spcAft>
                <a:spcPts val="1200"/>
              </a:spcAft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	C:\TEMP\terraform show      #mostra resultado da implementação</a:t>
            </a:r>
            <a:endParaRPr lang="pt-BR" sz="2800" noProof="0" dirty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1354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29213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867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>
                <a:latin typeface="+mj-lt"/>
              </a:rPr>
              <a:t>Introdução – Scripts</a:t>
            </a:r>
            <a:endParaRPr lang="pt-BR" sz="3000" noProof="0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30C2E48-90E2-48DB-A9F3-656151C8814B}"/>
              </a:ext>
            </a:extLst>
          </p:cNvPr>
          <p:cNvSpPr txBox="1"/>
          <p:nvPr/>
        </p:nvSpPr>
        <p:spPr>
          <a:xfrm>
            <a:off x="1025954" y="1734628"/>
            <a:ext cx="65374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noProof="0" dirty="0">
                <a:latin typeface="+mj-lt"/>
              </a:rPr>
              <a:t>Usa Linguagem HCL ou JSON</a:t>
            </a:r>
            <a:br>
              <a:rPr lang="pt-BR" sz="2400" noProof="0" dirty="0">
                <a:latin typeface="+mj-lt"/>
              </a:rPr>
            </a:br>
            <a:r>
              <a:rPr lang="pt-BR" sz="2400" noProof="0" dirty="0">
                <a:latin typeface="+mj-lt"/>
              </a:rPr>
              <a:t>Permite escolher seu(s) provedor(es) de nuvem: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D51ABDA-2D71-473F-9BD5-81BB27B66831}"/>
              </a:ext>
            </a:extLst>
          </p:cNvPr>
          <p:cNvSpPr txBox="1"/>
          <p:nvPr/>
        </p:nvSpPr>
        <p:spPr>
          <a:xfrm>
            <a:off x="1025954" y="2881358"/>
            <a:ext cx="9429761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noProof="0" dirty="0">
                <a:latin typeface="+mj-lt"/>
              </a:rPr>
              <a:t>Para AZURE, use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Azure RM</a:t>
            </a:r>
          </a:p>
          <a:p>
            <a:pPr>
              <a:spcAft>
                <a:spcPts val="600"/>
              </a:spcAft>
            </a:pPr>
            <a:r>
              <a:rPr lang="pt-BR" sz="2400" noProof="0" dirty="0">
                <a:latin typeface="+mj-lt"/>
                <a:hlinkClick r:id="rId7"/>
              </a:rPr>
              <a:t>https://registry.terraform.io/providers/hashicorp/azurerm/latest/docs </a:t>
            </a:r>
            <a:endParaRPr lang="pt-BR" sz="2400" noProof="0" dirty="0">
              <a:latin typeface="+mj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74676F-1EE2-4A02-9529-A19503A60D47}"/>
              </a:ext>
            </a:extLst>
          </p:cNvPr>
          <p:cNvSpPr txBox="1"/>
          <p:nvPr/>
        </p:nvSpPr>
        <p:spPr>
          <a:xfrm>
            <a:off x="1025954" y="4201315"/>
            <a:ext cx="10542766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Cria/altera recursos apenas informando novos valores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Usa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variáveis</a:t>
            </a:r>
            <a:r>
              <a:rPr lang="pt-BR" sz="2400" noProof="0" dirty="0">
                <a:latin typeface="+mj-lt"/>
              </a:rPr>
              <a:t> ao invés de valores fixos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Permite criar scripts mais legíveis (script único vs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múltiplos scripts</a:t>
            </a:r>
            <a:r>
              <a:rPr lang="pt-BR" sz="2400" noProof="0" dirty="0">
                <a:latin typeface="+mj-lt"/>
              </a:rPr>
              <a:t>)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Implementação de recursos é feita em paralelo</a:t>
            </a:r>
          </a:p>
        </p:txBody>
      </p:sp>
    </p:spTree>
    <p:extLst>
      <p:ext uri="{BB962C8B-B14F-4D97-AF65-F5344CB8AC3E}">
        <p14:creationId xmlns:p14="http://schemas.microsoft.com/office/powerpoint/2010/main" val="4188987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29213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867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>
                <a:latin typeface="+mj-lt"/>
              </a:rPr>
              <a:t>Introdução – Sintaxe Básica</a:t>
            </a:r>
            <a:endParaRPr lang="pt-BR" sz="3000" noProof="0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30C2E48-90E2-48DB-A9F3-656151C8814B}"/>
              </a:ext>
            </a:extLst>
          </p:cNvPr>
          <p:cNvSpPr txBox="1"/>
          <p:nvPr/>
        </p:nvSpPr>
        <p:spPr>
          <a:xfrm>
            <a:off x="6794549" y="1751974"/>
            <a:ext cx="42554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800" noProof="0" dirty="0">
                <a:latin typeface="Walbaum Display (Títulos)"/>
              </a:rPr>
              <a:t>Scripts começam com a declaração de provedores e suas versões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74676F-1EE2-4A02-9529-A19503A60D47}"/>
              </a:ext>
            </a:extLst>
          </p:cNvPr>
          <p:cNvSpPr txBox="1"/>
          <p:nvPr/>
        </p:nvSpPr>
        <p:spPr>
          <a:xfrm>
            <a:off x="375137" y="4546759"/>
            <a:ext cx="56933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noProof="0" dirty="0">
                <a:latin typeface="+mj-lt"/>
              </a:rPr>
              <a:t>Identifica parâmetros dos recursos a serem implementados (ex: </a:t>
            </a:r>
            <a:r>
              <a:rPr lang="pt-BR" sz="2400" noProof="0" dirty="0">
                <a:latin typeface="+mj-lt"/>
                <a:hlinkClick r:id="rId7"/>
              </a:rPr>
              <a:t>https://registry.terraform.io/providers/hashicorp/azurerm/latest/docs/resources/resource_group) </a:t>
            </a:r>
            <a:endParaRPr lang="pt-BR" sz="2400" noProof="0" dirty="0">
              <a:latin typeface="+mj-l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DDEDE1-5CC6-42E1-A301-81018898DC29}"/>
              </a:ext>
            </a:extLst>
          </p:cNvPr>
          <p:cNvSpPr/>
          <p:nvPr/>
        </p:nvSpPr>
        <p:spPr>
          <a:xfrm>
            <a:off x="872969" y="1751974"/>
            <a:ext cx="5693326" cy="2308324"/>
          </a:xfrm>
          <a:prstGeom prst="rect">
            <a:avLst/>
          </a:prstGeom>
          <a:solidFill>
            <a:srgbClr val="0070C0">
              <a:alpha val="10000"/>
            </a:srgbClr>
          </a:solidFill>
          <a:ln>
            <a:solidFill>
              <a:prstClr val="ltGray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pt-BR" noProof="0" dirty="0">
                <a:solidFill>
                  <a:srgbClr val="569CD6"/>
                </a:solidFill>
                <a:latin typeface="Consolas" panose="020B0609020204030204" pitchFamily="49" charset="0"/>
              </a:rPr>
              <a:t>terraform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noProof="0" dirty="0">
                <a:solidFill>
                  <a:srgbClr val="569CD6"/>
                </a:solidFill>
                <a:latin typeface="Consolas" panose="020B0609020204030204" pitchFamily="49" charset="0"/>
              </a:rPr>
              <a:t>required_providers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azurerm </a:t>
            </a:r>
            <a:r>
              <a:rPr lang="pt-BR" noProof="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  source  = </a:t>
            </a:r>
            <a:r>
              <a:rPr lang="pt-BR" noProof="0" dirty="0">
                <a:solidFill>
                  <a:srgbClr val="CE9178"/>
                </a:solidFill>
                <a:latin typeface="Consolas" panose="020B0609020204030204" pitchFamily="49" charset="0"/>
              </a:rPr>
              <a:t>"hashicorp/azurerm"</a:t>
            </a:r>
            <a:endParaRPr lang="pt-BR" noProof="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  version = </a:t>
            </a:r>
            <a:r>
              <a:rPr lang="pt-BR" noProof="0" dirty="0">
                <a:solidFill>
                  <a:srgbClr val="CE9178"/>
                </a:solidFill>
                <a:latin typeface="Consolas" panose="020B0609020204030204" pitchFamily="49" charset="0"/>
              </a:rPr>
              <a:t>"~&gt;3.0"</a:t>
            </a:r>
            <a:endParaRPr lang="pt-BR" noProof="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pt-BR" noProof="0" dirty="0">
                <a:solidFill>
                  <a:srgbClr val="6A9955"/>
                </a:solidFill>
                <a:latin typeface="Consolas" panose="020B0609020204030204" pitchFamily="49" charset="0"/>
              </a:rPr>
              <a:t>##any azurerm version, from 3.0.0 or above</a:t>
            </a:r>
            <a:endParaRPr lang="pt-BR" noProof="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}}}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E5BCB8A-C950-4404-9A2F-693A5765834B}"/>
              </a:ext>
            </a:extLst>
          </p:cNvPr>
          <p:cNvSpPr/>
          <p:nvPr/>
        </p:nvSpPr>
        <p:spPr>
          <a:xfrm>
            <a:off x="6113787" y="4582730"/>
            <a:ext cx="5693326" cy="1200329"/>
          </a:xfrm>
          <a:prstGeom prst="rect">
            <a:avLst/>
          </a:prstGeom>
          <a:solidFill>
            <a:srgbClr val="00B0F0">
              <a:alpha val="10000"/>
            </a:srgbClr>
          </a:solidFill>
          <a:ln>
            <a:solidFill>
              <a:prstClr val="ltGray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pt-BR" noProof="0" dirty="0">
                <a:solidFill>
                  <a:srgbClr val="569CD6"/>
                </a:solidFill>
                <a:latin typeface="Consolas" panose="020B0609020204030204" pitchFamily="49" charset="0"/>
              </a:rPr>
              <a:t>resource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noProof="0" dirty="0">
                <a:solidFill>
                  <a:srgbClr val="CE9178"/>
                </a:solidFill>
                <a:latin typeface="Consolas" panose="020B0609020204030204" pitchFamily="49" charset="0"/>
              </a:rPr>
              <a:t>"azurerm_resource_group"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noProof="0" dirty="0">
                <a:solidFill>
                  <a:srgbClr val="CE9178"/>
                </a:solidFill>
                <a:latin typeface="Consolas" panose="020B0609020204030204" pitchFamily="49" charset="0"/>
              </a:rPr>
              <a:t>"rg"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name     </a:t>
            </a:r>
            <a:r>
              <a:rPr lang="pt-BR" noProof="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noProof="0" dirty="0">
                <a:solidFill>
                  <a:srgbClr val="CE9178"/>
                </a:solidFill>
                <a:latin typeface="Consolas" panose="020B0609020204030204" pitchFamily="49" charset="0"/>
              </a:rPr>
              <a:t>“wagnerresourcegroup2024"</a:t>
            </a:r>
            <a:endParaRPr lang="pt-BR" noProof="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location </a:t>
            </a:r>
            <a:r>
              <a:rPr lang="pt-BR" noProof="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noProof="0" dirty="0">
                <a:solidFill>
                  <a:srgbClr val="CE9178"/>
                </a:solidFill>
                <a:latin typeface="Consolas" panose="020B0609020204030204" pitchFamily="49" charset="0"/>
              </a:rPr>
              <a:t>"East Us"</a:t>
            </a:r>
            <a:endParaRPr lang="pt-BR" noProof="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pt-BR" noProof="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2352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6" y="13453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867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>
                <a:latin typeface="+mj-lt"/>
              </a:rPr>
              <a:t>Introdução – Como Executar Scripts</a:t>
            </a:r>
            <a:endParaRPr lang="pt-BR" sz="3000" noProof="0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BDDEDE1-5CC6-42E1-A301-81018898DC29}"/>
              </a:ext>
            </a:extLst>
          </p:cNvPr>
          <p:cNvSpPr/>
          <p:nvPr/>
        </p:nvSpPr>
        <p:spPr>
          <a:xfrm>
            <a:off x="896311" y="1970604"/>
            <a:ext cx="10399376" cy="3693319"/>
          </a:xfrm>
          <a:prstGeom prst="rect">
            <a:avLst/>
          </a:prstGeom>
          <a:solidFill>
            <a:srgbClr val="0070C0">
              <a:alpha val="10000"/>
            </a:srgbClr>
          </a:solidFill>
          <a:ln>
            <a:solidFill>
              <a:prstClr val="ltGray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cd </a:t>
            </a:r>
            <a:r>
              <a:rPr lang="pt-BR" noProof="0" dirty="0">
                <a:latin typeface="Lucida Sans Typewriter" panose="020B0509030504030204" pitchFamily="49" charset="0"/>
              </a:rPr>
              <a:t>&lt;path_to_scripts&gt;</a:t>
            </a:r>
          </a:p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az login</a:t>
            </a:r>
          </a:p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rem to deploy to specific subscription run next command</a:t>
            </a:r>
          </a:p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az account set --subscription </a:t>
            </a:r>
            <a:r>
              <a:rPr lang="pt-BR" noProof="0" dirty="0">
                <a:latin typeface="Lucida Sans Typewriter" panose="020B0509030504030204" pitchFamily="49" charset="0"/>
              </a:rPr>
              <a:t>&lt;subscriptionID&gt;</a:t>
            </a:r>
          </a:p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terraform init</a:t>
            </a:r>
          </a:p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terraform validate</a:t>
            </a:r>
          </a:p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terraform plan  [-out]  </a:t>
            </a:r>
            <a:r>
              <a:rPr lang="pt-BR" noProof="0" dirty="0">
                <a:latin typeface="Lucida Sans Typewriter" panose="020B0509030504030204" pitchFamily="49" charset="0"/>
              </a:rPr>
              <a:t>&lt;repositório/arquivoPlan.tfplan&gt;</a:t>
            </a:r>
            <a:endParaRPr lang="pt-BR" noProof="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>
              <a:lnSpc>
                <a:spcPct val="150000"/>
              </a:lnSpc>
            </a:pPr>
            <a:r>
              <a:rPr lang="pt-BR" noProof="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terraform apply [-auto-approve] </a:t>
            </a:r>
            <a:r>
              <a:rPr lang="pt-BR" noProof="0" dirty="0">
                <a:latin typeface="Lucida Sans Typewriter" panose="020B0509030504030204" pitchFamily="49" charset="0"/>
              </a:rPr>
              <a:t>&lt;repositório/arquivoPlan.tfplan&gt;</a:t>
            </a:r>
            <a:endParaRPr lang="pt-BR" noProof="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lvl="1"/>
            <a:endParaRPr lang="pt-BR" noProof="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826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867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>
                <a:latin typeface="+mj-lt"/>
              </a:rPr>
              <a:t>Controle de Estado</a:t>
            </a:r>
            <a:endParaRPr lang="pt-BR" sz="3000" noProof="0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11" descr="A screen shot of a computer&#10;&#10;Description automatically generated">
            <a:extLst>
              <a:ext uri="{FF2B5EF4-FFF2-40B4-BE49-F238E27FC236}">
                <a16:creationId xmlns:a16="http://schemas.microsoft.com/office/drawing/2014/main" id="{DA09D443-7757-45BA-9667-2DC5BAFCE3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666" y="1970604"/>
            <a:ext cx="5692240" cy="254102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DB6E90E-5D4E-4DC0-9EEC-2CE03126E24E}"/>
              </a:ext>
            </a:extLst>
          </p:cNvPr>
          <p:cNvSpPr/>
          <p:nvPr/>
        </p:nvSpPr>
        <p:spPr>
          <a:xfrm>
            <a:off x="1025954" y="1861941"/>
            <a:ext cx="4447852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Após primeira execução dos scripts, novos arquivos serão criados</a:t>
            </a:r>
          </a:p>
          <a:p>
            <a:pPr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Arquivo TFSTATE identifica o estado de cada recurso após última execução</a:t>
            </a:r>
          </a:p>
          <a:p>
            <a:pPr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Antes da próxima execução, Terraform vai checar TFSTATE.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D3C962-85C3-4D52-918F-F69D1465C308}"/>
              </a:ext>
            </a:extLst>
          </p:cNvPr>
          <p:cNvSpPr txBox="1"/>
          <p:nvPr/>
        </p:nvSpPr>
        <p:spPr>
          <a:xfrm>
            <a:off x="1884954" y="5424899"/>
            <a:ext cx="840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noProof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NUNCA PERCA OU ALTERE TFSTATE</a:t>
            </a:r>
          </a:p>
        </p:txBody>
      </p:sp>
    </p:spTree>
    <p:extLst>
      <p:ext uri="{BB962C8B-B14F-4D97-AF65-F5344CB8AC3E}">
        <p14:creationId xmlns:p14="http://schemas.microsoft.com/office/powerpoint/2010/main" val="2716033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6" y="13453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noProof="0" dirty="0">
                <a:latin typeface="+mj-lt"/>
              </a:rPr>
              <a:t>Controle de Estado – Como Alterar ou Excluir Recursos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DB6E90E-5D4E-4DC0-9EEC-2CE03126E24E}"/>
              </a:ext>
            </a:extLst>
          </p:cNvPr>
          <p:cNvSpPr/>
          <p:nvPr/>
        </p:nvSpPr>
        <p:spPr>
          <a:xfrm>
            <a:off x="1025954" y="3272287"/>
            <a:ext cx="1033030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Se seus scripts não forem alterados –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nada acontece (IDEMPOTENT)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Se forem alterados valores de variáveis –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recursos afetados serão alterados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Se um recurso for excluído dos scripts –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recurso será excluído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Se o TFSTATE for perdido –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TERRAFORM assume que os recursos não existem e tentará recriá-los (gerando mensagem de erro na implantação)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EBDEA1-14B2-491B-87F3-61ACD7683D0B}"/>
              </a:ext>
            </a:extLst>
          </p:cNvPr>
          <p:cNvSpPr txBox="1"/>
          <p:nvPr/>
        </p:nvSpPr>
        <p:spPr>
          <a:xfrm>
            <a:off x="1025954" y="2105083"/>
            <a:ext cx="8853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noProof="0" dirty="0">
                <a:latin typeface="+mj-lt"/>
              </a:rPr>
              <a:t>Arquivo TFSTATE é a chave para implementações bem sucedidas</a:t>
            </a:r>
          </a:p>
          <a:p>
            <a:r>
              <a:rPr lang="pt-BR" sz="2400" noProof="0" dirty="0">
                <a:latin typeface="+mj-lt"/>
              </a:rPr>
              <a:t>Resultados esperados para próximas execuções de seus scripts:</a:t>
            </a:r>
          </a:p>
        </p:txBody>
      </p:sp>
    </p:spTree>
    <p:extLst>
      <p:ext uri="{BB962C8B-B14F-4D97-AF65-F5344CB8AC3E}">
        <p14:creationId xmlns:p14="http://schemas.microsoft.com/office/powerpoint/2010/main" val="2080180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87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noProof="0" dirty="0">
                <a:latin typeface="+mj-lt"/>
              </a:rPr>
              <a:t>Uma Estratégia Melhor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DB6E90E-5D4E-4DC0-9EEC-2CE03126E24E}"/>
              </a:ext>
            </a:extLst>
          </p:cNvPr>
          <p:cNvSpPr/>
          <p:nvPr/>
        </p:nvSpPr>
        <p:spPr>
          <a:xfrm>
            <a:off x="1452820" y="3238277"/>
            <a:ext cx="9546225" cy="2008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Melhora gerenciamento (ex: em caso de atualização do AzureRM)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Melhora escalabilidade (ex: executar implementações em paralelo)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Melhora reusabilidade (ex: aplicação em ambientes Dev/Tst/Prd)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EBDEA1-14B2-491B-87F3-61ACD7683D0B}"/>
              </a:ext>
            </a:extLst>
          </p:cNvPr>
          <p:cNvSpPr txBox="1"/>
          <p:nvPr/>
        </p:nvSpPr>
        <p:spPr>
          <a:xfrm>
            <a:off x="1025954" y="2118536"/>
            <a:ext cx="9465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noProof="0" dirty="0">
                <a:latin typeface="Walbaum Display (Títulos)"/>
              </a:rPr>
              <a:t>Dividir seu código em múltiplos scripts costuma ser uma ótima opção:</a:t>
            </a:r>
          </a:p>
          <a:p>
            <a:endParaRPr lang="pt-BR" sz="24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4144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87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noProof="0" dirty="0">
                <a:latin typeface="+mj-lt"/>
              </a:rPr>
              <a:t>Uma Estratégia Melhor – Tipos de Scripts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DB6E90E-5D4E-4DC0-9EEC-2CE03126E24E}"/>
              </a:ext>
            </a:extLst>
          </p:cNvPr>
          <p:cNvSpPr/>
          <p:nvPr/>
        </p:nvSpPr>
        <p:spPr>
          <a:xfrm>
            <a:off x="1032187" y="2229028"/>
            <a:ext cx="10713762" cy="4132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[main].tf : </a:t>
            </a:r>
            <a:r>
              <a:rPr lang="pt-BR" sz="2400" noProof="0" dirty="0">
                <a:latin typeface="+mj-lt"/>
              </a:rPr>
              <a:t>script raiz; normalmente provedores e recursos a serem criados.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variables.tf : </a:t>
            </a:r>
            <a:r>
              <a:rPr lang="pt-BR" sz="2400" noProof="0" dirty="0">
                <a:latin typeface="+mj-lt"/>
              </a:rPr>
              <a:t>onde se define as variáveis, tipos de dados e comentários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locals.tf : </a:t>
            </a:r>
            <a:r>
              <a:rPr lang="pt-BR" sz="2400" noProof="0" dirty="0">
                <a:latin typeface="+mj-lt"/>
              </a:rPr>
              <a:t>cria expressões baseadas em variáveis (exemplo: criação de “tags”)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output.tf : </a:t>
            </a:r>
            <a:r>
              <a:rPr lang="pt-BR" sz="2400" noProof="0" dirty="0">
                <a:latin typeface="+mj-lt"/>
              </a:rPr>
              <a:t>coleta valores de atributos durante a criação dos recursos (ex: IDs).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custom files : </a:t>
            </a:r>
            <a:r>
              <a:rPr lang="pt-BR" sz="2400" noProof="0" dirty="0">
                <a:latin typeface="+mj-lt"/>
              </a:rPr>
              <a:t>arquivos genéricos para customização do seu código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MÓDULOS :  </a:t>
            </a:r>
            <a:r>
              <a:rPr lang="pt-BR" sz="2400" noProof="0" dirty="0">
                <a:latin typeface="+mj-lt"/>
              </a:rPr>
              <a:t>bibliotecas que encapsulam sintaxe de criação de cada recurso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EBDEA1-14B2-491B-87F3-61ACD7683D0B}"/>
              </a:ext>
            </a:extLst>
          </p:cNvPr>
          <p:cNvSpPr txBox="1"/>
          <p:nvPr/>
        </p:nvSpPr>
        <p:spPr>
          <a:xfrm>
            <a:off x="599088" y="1474846"/>
            <a:ext cx="88065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noProof="0" dirty="0">
                <a:latin typeface="+mj-lt"/>
              </a:rPr>
              <a:t>Na prática, é uma boa ideia dividir seu código entre vários scripts</a:t>
            </a:r>
          </a:p>
          <a:p>
            <a:r>
              <a:rPr lang="pt-BR" sz="2400" noProof="0" dirty="0">
                <a:latin typeface="+mj-lt"/>
              </a:rPr>
              <a:t>Seu projeto pode incluir (por exemplo):</a:t>
            </a:r>
          </a:p>
        </p:txBody>
      </p:sp>
    </p:spTree>
    <p:extLst>
      <p:ext uri="{BB962C8B-B14F-4D97-AF65-F5344CB8AC3E}">
        <p14:creationId xmlns:p14="http://schemas.microsoft.com/office/powerpoint/2010/main" val="2793634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87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noProof="0" dirty="0">
                <a:latin typeface="+mj-lt"/>
              </a:rPr>
              <a:t>Uma Estratégia Melhor – Porque Usar Módulos?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DB6E90E-5D4E-4DC0-9EEC-2CE03126E24E}"/>
              </a:ext>
            </a:extLst>
          </p:cNvPr>
          <p:cNvSpPr/>
          <p:nvPr/>
        </p:nvSpPr>
        <p:spPr>
          <a:xfrm>
            <a:off x="881314" y="2118536"/>
            <a:ext cx="10713762" cy="2716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Eles isolam a sintaxe correta de criação de cada recursos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Essa biblioteca deve ser compartilhada com todo time de DEV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Define um padrão corporativo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Melhor gerenciamento de upgrades e mudanças de sintaxe dos recursos</a:t>
            </a:r>
          </a:p>
        </p:txBody>
      </p:sp>
    </p:spTree>
    <p:extLst>
      <p:ext uri="{BB962C8B-B14F-4D97-AF65-F5344CB8AC3E}">
        <p14:creationId xmlns:p14="http://schemas.microsoft.com/office/powerpoint/2010/main" val="2293433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87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noProof="0" dirty="0">
                <a:latin typeface="+mj-lt"/>
              </a:rPr>
              <a:t>Uma Estratégia Melhor – </a:t>
            </a:r>
          </a:p>
          <a:p>
            <a:pPr algn="r"/>
            <a:r>
              <a:rPr lang="pt-BR" sz="3000" noProof="0" dirty="0">
                <a:latin typeface="+mj-lt"/>
              </a:rPr>
              <a:t>Organizando Scripts Para Usar Módulos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DB6E90E-5D4E-4DC0-9EEC-2CE03126E24E}"/>
              </a:ext>
            </a:extLst>
          </p:cNvPr>
          <p:cNvSpPr/>
          <p:nvPr/>
        </p:nvSpPr>
        <p:spPr>
          <a:xfrm>
            <a:off x="7046139" y="2535684"/>
            <a:ext cx="5016907" cy="592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pt-BR" sz="2400" noProof="0" dirty="0">
                <a:latin typeface="Walbaum Display (Títulos)"/>
              </a:rPr>
              <a:t>Crie diretórios de PROJETOS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7609652-D160-4FDC-8989-1B7F12F248FA}"/>
              </a:ext>
            </a:extLst>
          </p:cNvPr>
          <p:cNvSpPr/>
          <p:nvPr/>
        </p:nvSpPr>
        <p:spPr>
          <a:xfrm>
            <a:off x="1871136" y="1783867"/>
            <a:ext cx="4529663" cy="592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pt-BR" sz="2400" noProof="0" dirty="0">
                <a:latin typeface="Walbaum Display (Títulos)"/>
              </a:rPr>
              <a:t>Crie um diretório de MÓDULOS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6AFF71F-30F1-47F7-866A-E0644F9E6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745" y="2414945"/>
            <a:ext cx="2500758" cy="3918580"/>
          </a:xfrm>
          <a:prstGeom prst="rect">
            <a:avLst/>
          </a:prstGeom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EE8C377D-7E17-4FF8-9A9B-431D907FA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7213" y="3083447"/>
            <a:ext cx="2936826" cy="18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07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87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noProof="0" dirty="0">
                <a:latin typeface="+mj-lt"/>
              </a:rPr>
              <a:t>Uma Estratégia Melhor – Conteúdo dos Scripts: </a:t>
            </a:r>
            <a:r>
              <a:rPr lang="pt-BR" sz="3000" u="sng" noProof="0" dirty="0">
                <a:latin typeface="+mj-lt"/>
              </a:rPr>
              <a:t>Módulo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B5F4A3A5-D3AC-4C45-8538-2493EF610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17" y="1396036"/>
            <a:ext cx="5428767" cy="2032964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E8BABFBE-DEBC-48FD-8C82-68368656E5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947" y="1418895"/>
            <a:ext cx="5329703" cy="5026246"/>
          </a:xfrm>
          <a:prstGeom prst="rect">
            <a:avLst/>
          </a:prstGeom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82D22516-D448-457F-BE28-69F9B65631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17" y="3728326"/>
            <a:ext cx="5428767" cy="2716815"/>
          </a:xfrm>
          <a:prstGeom prst="rect">
            <a:avLst/>
          </a:prstGeom>
        </p:spPr>
      </p:pic>
      <p:sp>
        <p:nvSpPr>
          <p:cNvPr id="16" name="Rectangle: Rounded Corners 11">
            <a:extLst>
              <a:ext uri="{FF2B5EF4-FFF2-40B4-BE49-F238E27FC236}">
                <a16:creationId xmlns:a16="http://schemas.microsoft.com/office/drawing/2014/main" id="{D39A9327-FC8A-41A9-A22C-0E28FFB3D220}"/>
              </a:ext>
            </a:extLst>
          </p:cNvPr>
          <p:cNvSpPr/>
          <p:nvPr/>
        </p:nvSpPr>
        <p:spPr>
          <a:xfrm>
            <a:off x="1307690" y="2113935"/>
            <a:ext cx="1091381" cy="1015740"/>
          </a:xfrm>
          <a:custGeom>
            <a:avLst/>
            <a:gdLst>
              <a:gd name="csX0" fmla="*/ 0 w 1091381"/>
              <a:gd name="csY0" fmla="*/ 169293 h 1015740"/>
              <a:gd name="csX1" fmla="*/ 169293 w 1091381"/>
              <a:gd name="csY1" fmla="*/ 0 h 1015740"/>
              <a:gd name="csX2" fmla="*/ 560746 w 1091381"/>
              <a:gd name="csY2" fmla="*/ 0 h 1015740"/>
              <a:gd name="csX3" fmla="*/ 922088 w 1091381"/>
              <a:gd name="csY3" fmla="*/ 0 h 1015740"/>
              <a:gd name="csX4" fmla="*/ 1091381 w 1091381"/>
              <a:gd name="csY4" fmla="*/ 169293 h 1015740"/>
              <a:gd name="csX5" fmla="*/ 1091381 w 1091381"/>
              <a:gd name="csY5" fmla="*/ 494327 h 1015740"/>
              <a:gd name="csX6" fmla="*/ 1091381 w 1091381"/>
              <a:gd name="csY6" fmla="*/ 846447 h 1015740"/>
              <a:gd name="csX7" fmla="*/ 922088 w 1091381"/>
              <a:gd name="csY7" fmla="*/ 1015740 h 1015740"/>
              <a:gd name="csX8" fmla="*/ 560746 w 1091381"/>
              <a:gd name="csY8" fmla="*/ 1015740 h 1015740"/>
              <a:gd name="csX9" fmla="*/ 169293 w 1091381"/>
              <a:gd name="csY9" fmla="*/ 1015740 h 1015740"/>
              <a:gd name="csX10" fmla="*/ 0 w 1091381"/>
              <a:gd name="csY10" fmla="*/ 846447 h 1015740"/>
              <a:gd name="csX11" fmla="*/ 0 w 1091381"/>
              <a:gd name="csY11" fmla="*/ 528185 h 1015740"/>
              <a:gd name="csX12" fmla="*/ 0 w 1091381"/>
              <a:gd name="csY12" fmla="*/ 169293 h 1015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91381" h="1015740" extrusionOk="0">
                <a:moveTo>
                  <a:pt x="0" y="169293"/>
                </a:moveTo>
                <a:cubicBezTo>
                  <a:pt x="-11683" y="68589"/>
                  <a:pt x="69825" y="2241"/>
                  <a:pt x="169293" y="0"/>
                </a:cubicBezTo>
                <a:cubicBezTo>
                  <a:pt x="307908" y="-16322"/>
                  <a:pt x="453978" y="15062"/>
                  <a:pt x="560746" y="0"/>
                </a:cubicBezTo>
                <a:cubicBezTo>
                  <a:pt x="667514" y="-15062"/>
                  <a:pt x="826297" y="27266"/>
                  <a:pt x="922088" y="0"/>
                </a:cubicBezTo>
                <a:cubicBezTo>
                  <a:pt x="997996" y="-9624"/>
                  <a:pt x="1113023" y="86136"/>
                  <a:pt x="1091381" y="169293"/>
                </a:cubicBezTo>
                <a:cubicBezTo>
                  <a:pt x="1112624" y="243812"/>
                  <a:pt x="1056035" y="405755"/>
                  <a:pt x="1091381" y="494327"/>
                </a:cubicBezTo>
                <a:cubicBezTo>
                  <a:pt x="1126727" y="582899"/>
                  <a:pt x="1062534" y="720594"/>
                  <a:pt x="1091381" y="846447"/>
                </a:cubicBezTo>
                <a:cubicBezTo>
                  <a:pt x="1090046" y="927212"/>
                  <a:pt x="1004288" y="1031442"/>
                  <a:pt x="922088" y="1015740"/>
                </a:cubicBezTo>
                <a:cubicBezTo>
                  <a:pt x="803761" y="1049162"/>
                  <a:pt x="670846" y="987340"/>
                  <a:pt x="560746" y="1015740"/>
                </a:cubicBezTo>
                <a:cubicBezTo>
                  <a:pt x="450646" y="1044140"/>
                  <a:pt x="326203" y="1000736"/>
                  <a:pt x="169293" y="1015740"/>
                </a:cubicBezTo>
                <a:cubicBezTo>
                  <a:pt x="79756" y="1021636"/>
                  <a:pt x="1075" y="951079"/>
                  <a:pt x="0" y="846447"/>
                </a:cubicBezTo>
                <a:cubicBezTo>
                  <a:pt x="-23817" y="737591"/>
                  <a:pt x="26254" y="652563"/>
                  <a:pt x="0" y="528185"/>
                </a:cubicBezTo>
                <a:cubicBezTo>
                  <a:pt x="-26254" y="403807"/>
                  <a:pt x="15629" y="341281"/>
                  <a:pt x="0" y="169293"/>
                </a:cubicBezTo>
                <a:close/>
              </a:path>
            </a:pathLst>
          </a:custGeom>
          <a:noFill/>
          <a:ln w="15875">
            <a:solidFill>
              <a:schemeClr val="accent3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211042-AA81-44B0-B27D-4D233D3C724D}"/>
              </a:ext>
            </a:extLst>
          </p:cNvPr>
          <p:cNvSpPr/>
          <p:nvPr/>
        </p:nvSpPr>
        <p:spPr>
          <a:xfrm>
            <a:off x="3683537" y="2074741"/>
            <a:ext cx="1760822" cy="1054934"/>
          </a:xfrm>
          <a:custGeom>
            <a:avLst/>
            <a:gdLst>
              <a:gd name="csX0" fmla="*/ 0 w 1760822"/>
              <a:gd name="csY0" fmla="*/ 175826 h 1054934"/>
              <a:gd name="csX1" fmla="*/ 175826 w 1760822"/>
              <a:gd name="csY1" fmla="*/ 0 h 1054934"/>
              <a:gd name="csX2" fmla="*/ 673733 w 1760822"/>
              <a:gd name="csY2" fmla="*/ 0 h 1054934"/>
              <a:gd name="csX3" fmla="*/ 1129364 w 1760822"/>
              <a:gd name="csY3" fmla="*/ 0 h 1054934"/>
              <a:gd name="csX4" fmla="*/ 1584996 w 1760822"/>
              <a:gd name="csY4" fmla="*/ 0 h 1054934"/>
              <a:gd name="csX5" fmla="*/ 1760822 w 1760822"/>
              <a:gd name="csY5" fmla="*/ 175826 h 1054934"/>
              <a:gd name="csX6" fmla="*/ 1760822 w 1760822"/>
              <a:gd name="csY6" fmla="*/ 513401 h 1054934"/>
              <a:gd name="csX7" fmla="*/ 1760822 w 1760822"/>
              <a:gd name="csY7" fmla="*/ 879108 h 1054934"/>
              <a:gd name="csX8" fmla="*/ 1584996 w 1760822"/>
              <a:gd name="csY8" fmla="*/ 1054934 h 1054934"/>
              <a:gd name="csX9" fmla="*/ 1143456 w 1760822"/>
              <a:gd name="csY9" fmla="*/ 1054934 h 1054934"/>
              <a:gd name="csX10" fmla="*/ 673733 w 1760822"/>
              <a:gd name="csY10" fmla="*/ 1054934 h 1054934"/>
              <a:gd name="csX11" fmla="*/ 175826 w 1760822"/>
              <a:gd name="csY11" fmla="*/ 1054934 h 1054934"/>
              <a:gd name="csX12" fmla="*/ 0 w 1760822"/>
              <a:gd name="csY12" fmla="*/ 879108 h 1054934"/>
              <a:gd name="csX13" fmla="*/ 0 w 1760822"/>
              <a:gd name="csY13" fmla="*/ 527467 h 1054934"/>
              <a:gd name="csX14" fmla="*/ 0 w 1760822"/>
              <a:gd name="csY14" fmla="*/ 175826 h 1054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760822" h="1054934" extrusionOk="0">
                <a:moveTo>
                  <a:pt x="0" y="175826"/>
                </a:moveTo>
                <a:cubicBezTo>
                  <a:pt x="-15841" y="68949"/>
                  <a:pt x="53912" y="9311"/>
                  <a:pt x="175826" y="0"/>
                </a:cubicBezTo>
                <a:cubicBezTo>
                  <a:pt x="325510" y="-1313"/>
                  <a:pt x="436168" y="30092"/>
                  <a:pt x="673733" y="0"/>
                </a:cubicBezTo>
                <a:cubicBezTo>
                  <a:pt x="911298" y="-30092"/>
                  <a:pt x="1021679" y="35095"/>
                  <a:pt x="1129364" y="0"/>
                </a:cubicBezTo>
                <a:cubicBezTo>
                  <a:pt x="1237049" y="-35095"/>
                  <a:pt x="1385126" y="20417"/>
                  <a:pt x="1584996" y="0"/>
                </a:cubicBezTo>
                <a:cubicBezTo>
                  <a:pt x="1679539" y="-8257"/>
                  <a:pt x="1764196" y="66236"/>
                  <a:pt x="1760822" y="175826"/>
                </a:cubicBezTo>
                <a:cubicBezTo>
                  <a:pt x="1767549" y="280342"/>
                  <a:pt x="1732896" y="410183"/>
                  <a:pt x="1760822" y="513401"/>
                </a:cubicBezTo>
                <a:cubicBezTo>
                  <a:pt x="1788748" y="616619"/>
                  <a:pt x="1743234" y="781745"/>
                  <a:pt x="1760822" y="879108"/>
                </a:cubicBezTo>
                <a:cubicBezTo>
                  <a:pt x="1749183" y="995467"/>
                  <a:pt x="1678061" y="1050247"/>
                  <a:pt x="1584996" y="1054934"/>
                </a:cubicBezTo>
                <a:cubicBezTo>
                  <a:pt x="1414274" y="1072326"/>
                  <a:pt x="1329137" y="1032206"/>
                  <a:pt x="1143456" y="1054934"/>
                </a:cubicBezTo>
                <a:cubicBezTo>
                  <a:pt x="957775" y="1077662"/>
                  <a:pt x="899240" y="999478"/>
                  <a:pt x="673733" y="1054934"/>
                </a:cubicBezTo>
                <a:cubicBezTo>
                  <a:pt x="448226" y="1110390"/>
                  <a:pt x="312246" y="1001969"/>
                  <a:pt x="175826" y="1054934"/>
                </a:cubicBezTo>
                <a:cubicBezTo>
                  <a:pt x="88891" y="1067392"/>
                  <a:pt x="20942" y="957878"/>
                  <a:pt x="0" y="879108"/>
                </a:cubicBezTo>
                <a:cubicBezTo>
                  <a:pt x="-10396" y="710342"/>
                  <a:pt x="7754" y="684472"/>
                  <a:pt x="0" y="527467"/>
                </a:cubicBezTo>
                <a:cubicBezTo>
                  <a:pt x="-7754" y="370462"/>
                  <a:pt x="25905" y="276183"/>
                  <a:pt x="0" y="175826"/>
                </a:cubicBezTo>
                <a:close/>
              </a:path>
            </a:pathLst>
          </a:custGeom>
          <a:noFill/>
          <a:ln w="15875">
            <a:solidFill>
              <a:schemeClr val="accent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D850AA-5B1F-4F06-B520-D04227CE71F5}"/>
              </a:ext>
            </a:extLst>
          </p:cNvPr>
          <p:cNvSpPr/>
          <p:nvPr/>
        </p:nvSpPr>
        <p:spPr>
          <a:xfrm>
            <a:off x="7001435" y="1739153"/>
            <a:ext cx="4885765" cy="3242749"/>
          </a:xfrm>
          <a:custGeom>
            <a:avLst/>
            <a:gdLst>
              <a:gd name="csX0" fmla="*/ 0 w 4885765"/>
              <a:gd name="csY0" fmla="*/ 540469 h 3242749"/>
              <a:gd name="csX1" fmla="*/ 540469 w 4885765"/>
              <a:gd name="csY1" fmla="*/ 0 h 3242749"/>
              <a:gd name="csX2" fmla="*/ 1160112 w 4885765"/>
              <a:gd name="csY2" fmla="*/ 0 h 3242749"/>
              <a:gd name="csX3" fmla="*/ 1665611 w 4885765"/>
              <a:gd name="csY3" fmla="*/ 0 h 3242749"/>
              <a:gd name="csX4" fmla="*/ 2133061 w 4885765"/>
              <a:gd name="csY4" fmla="*/ 0 h 3242749"/>
              <a:gd name="csX5" fmla="*/ 2714656 w 4885765"/>
              <a:gd name="csY5" fmla="*/ 0 h 3242749"/>
              <a:gd name="csX6" fmla="*/ 3220154 w 4885765"/>
              <a:gd name="csY6" fmla="*/ 0 h 3242749"/>
              <a:gd name="csX7" fmla="*/ 3839798 w 4885765"/>
              <a:gd name="csY7" fmla="*/ 0 h 3242749"/>
              <a:gd name="csX8" fmla="*/ 4345296 w 4885765"/>
              <a:gd name="csY8" fmla="*/ 0 h 3242749"/>
              <a:gd name="csX9" fmla="*/ 4885765 w 4885765"/>
              <a:gd name="csY9" fmla="*/ 540469 h 3242749"/>
              <a:gd name="csX10" fmla="*/ 4885765 w 4885765"/>
              <a:gd name="csY10" fmla="*/ 1037686 h 3242749"/>
              <a:gd name="csX11" fmla="*/ 4885765 w 4885765"/>
              <a:gd name="csY11" fmla="*/ 1578138 h 3242749"/>
              <a:gd name="csX12" fmla="*/ 4885765 w 4885765"/>
              <a:gd name="csY12" fmla="*/ 2096973 h 3242749"/>
              <a:gd name="csX13" fmla="*/ 4885765 w 4885765"/>
              <a:gd name="csY13" fmla="*/ 2702280 h 3242749"/>
              <a:gd name="csX14" fmla="*/ 4345296 w 4885765"/>
              <a:gd name="csY14" fmla="*/ 3242749 h 3242749"/>
              <a:gd name="csX15" fmla="*/ 3801749 w 4885765"/>
              <a:gd name="csY15" fmla="*/ 3242749 h 3242749"/>
              <a:gd name="csX16" fmla="*/ 3182106 w 4885765"/>
              <a:gd name="csY16" fmla="*/ 3242749 h 3242749"/>
              <a:gd name="csX17" fmla="*/ 2638559 w 4885765"/>
              <a:gd name="csY17" fmla="*/ 3242749 h 3242749"/>
              <a:gd name="csX18" fmla="*/ 2209157 w 4885765"/>
              <a:gd name="csY18" fmla="*/ 3242749 h 3242749"/>
              <a:gd name="csX19" fmla="*/ 1741707 w 4885765"/>
              <a:gd name="csY19" fmla="*/ 3242749 h 3242749"/>
              <a:gd name="csX20" fmla="*/ 1122064 w 4885765"/>
              <a:gd name="csY20" fmla="*/ 3242749 h 3242749"/>
              <a:gd name="csX21" fmla="*/ 540469 w 4885765"/>
              <a:gd name="csY21" fmla="*/ 3242749 h 3242749"/>
              <a:gd name="csX22" fmla="*/ 0 w 4885765"/>
              <a:gd name="csY22" fmla="*/ 2702280 h 3242749"/>
              <a:gd name="csX23" fmla="*/ 0 w 4885765"/>
              <a:gd name="csY23" fmla="*/ 2140209 h 3242749"/>
              <a:gd name="csX24" fmla="*/ 0 w 4885765"/>
              <a:gd name="csY24" fmla="*/ 1664611 h 3242749"/>
              <a:gd name="csX25" fmla="*/ 0 w 4885765"/>
              <a:gd name="csY25" fmla="*/ 1124158 h 3242749"/>
              <a:gd name="csX26" fmla="*/ 0 w 4885765"/>
              <a:gd name="csY26" fmla="*/ 540469 h 324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885765" h="3242749" extrusionOk="0">
                <a:moveTo>
                  <a:pt x="0" y="540469"/>
                </a:moveTo>
                <a:cubicBezTo>
                  <a:pt x="-62185" y="203619"/>
                  <a:pt x="182033" y="22497"/>
                  <a:pt x="540469" y="0"/>
                </a:cubicBezTo>
                <a:cubicBezTo>
                  <a:pt x="675115" y="-63481"/>
                  <a:pt x="1021895" y="56190"/>
                  <a:pt x="1160112" y="0"/>
                </a:cubicBezTo>
                <a:cubicBezTo>
                  <a:pt x="1298329" y="-56190"/>
                  <a:pt x="1520712" y="26077"/>
                  <a:pt x="1665611" y="0"/>
                </a:cubicBezTo>
                <a:cubicBezTo>
                  <a:pt x="1810510" y="-26077"/>
                  <a:pt x="1931213" y="42152"/>
                  <a:pt x="2133061" y="0"/>
                </a:cubicBezTo>
                <a:cubicBezTo>
                  <a:pt x="2334909" y="-42152"/>
                  <a:pt x="2471726" y="57990"/>
                  <a:pt x="2714656" y="0"/>
                </a:cubicBezTo>
                <a:cubicBezTo>
                  <a:pt x="2957586" y="-57990"/>
                  <a:pt x="3063274" y="43067"/>
                  <a:pt x="3220154" y="0"/>
                </a:cubicBezTo>
                <a:cubicBezTo>
                  <a:pt x="3377034" y="-43067"/>
                  <a:pt x="3701711" y="54088"/>
                  <a:pt x="3839798" y="0"/>
                </a:cubicBezTo>
                <a:cubicBezTo>
                  <a:pt x="3977885" y="-54088"/>
                  <a:pt x="4216430" y="51317"/>
                  <a:pt x="4345296" y="0"/>
                </a:cubicBezTo>
                <a:cubicBezTo>
                  <a:pt x="4616165" y="45698"/>
                  <a:pt x="4840490" y="189464"/>
                  <a:pt x="4885765" y="540469"/>
                </a:cubicBezTo>
                <a:cubicBezTo>
                  <a:pt x="4902320" y="743515"/>
                  <a:pt x="4845515" y="930891"/>
                  <a:pt x="4885765" y="1037686"/>
                </a:cubicBezTo>
                <a:cubicBezTo>
                  <a:pt x="4926015" y="1144481"/>
                  <a:pt x="4850877" y="1402044"/>
                  <a:pt x="4885765" y="1578138"/>
                </a:cubicBezTo>
                <a:cubicBezTo>
                  <a:pt x="4920653" y="1754232"/>
                  <a:pt x="4840288" y="1943847"/>
                  <a:pt x="4885765" y="2096973"/>
                </a:cubicBezTo>
                <a:cubicBezTo>
                  <a:pt x="4931242" y="2250099"/>
                  <a:pt x="4848355" y="2439705"/>
                  <a:pt x="4885765" y="2702280"/>
                </a:cubicBezTo>
                <a:cubicBezTo>
                  <a:pt x="4933246" y="2941830"/>
                  <a:pt x="4573844" y="3215710"/>
                  <a:pt x="4345296" y="3242749"/>
                </a:cubicBezTo>
                <a:cubicBezTo>
                  <a:pt x="4085576" y="3250546"/>
                  <a:pt x="3912434" y="3202264"/>
                  <a:pt x="3801749" y="3242749"/>
                </a:cubicBezTo>
                <a:cubicBezTo>
                  <a:pt x="3691064" y="3283234"/>
                  <a:pt x="3362804" y="3213858"/>
                  <a:pt x="3182106" y="3242749"/>
                </a:cubicBezTo>
                <a:cubicBezTo>
                  <a:pt x="3001408" y="3271640"/>
                  <a:pt x="2855075" y="3208716"/>
                  <a:pt x="2638559" y="3242749"/>
                </a:cubicBezTo>
                <a:cubicBezTo>
                  <a:pt x="2422043" y="3276782"/>
                  <a:pt x="2354437" y="3205361"/>
                  <a:pt x="2209157" y="3242749"/>
                </a:cubicBezTo>
                <a:cubicBezTo>
                  <a:pt x="2063877" y="3280137"/>
                  <a:pt x="1895859" y="3231828"/>
                  <a:pt x="1741707" y="3242749"/>
                </a:cubicBezTo>
                <a:cubicBezTo>
                  <a:pt x="1587555" y="3253670"/>
                  <a:pt x="1431173" y="3179654"/>
                  <a:pt x="1122064" y="3242749"/>
                </a:cubicBezTo>
                <a:cubicBezTo>
                  <a:pt x="812955" y="3305844"/>
                  <a:pt x="799720" y="3225398"/>
                  <a:pt x="540469" y="3242749"/>
                </a:cubicBezTo>
                <a:cubicBezTo>
                  <a:pt x="253471" y="3265509"/>
                  <a:pt x="-64021" y="3034534"/>
                  <a:pt x="0" y="2702280"/>
                </a:cubicBezTo>
                <a:cubicBezTo>
                  <a:pt x="-52723" y="2460532"/>
                  <a:pt x="23090" y="2402886"/>
                  <a:pt x="0" y="2140209"/>
                </a:cubicBezTo>
                <a:cubicBezTo>
                  <a:pt x="-23090" y="1877532"/>
                  <a:pt x="8734" y="1890328"/>
                  <a:pt x="0" y="1664611"/>
                </a:cubicBezTo>
                <a:cubicBezTo>
                  <a:pt x="-8734" y="1438894"/>
                  <a:pt x="5795" y="1306556"/>
                  <a:pt x="0" y="1124158"/>
                </a:cubicBezTo>
                <a:cubicBezTo>
                  <a:pt x="-5795" y="941760"/>
                  <a:pt x="28373" y="755892"/>
                  <a:pt x="0" y="540469"/>
                </a:cubicBezTo>
                <a:close/>
              </a:path>
            </a:pathLst>
          </a:custGeom>
          <a:noFill/>
          <a:ln w="15875">
            <a:solidFill>
              <a:schemeClr val="accent5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Rectangle: Rounded Corners 17">
            <a:extLst>
              <a:ext uri="{FF2B5EF4-FFF2-40B4-BE49-F238E27FC236}">
                <a16:creationId xmlns:a16="http://schemas.microsoft.com/office/drawing/2014/main" id="{9EF3ADB8-84D2-2ED7-B3A5-EF5C0B2833B7}"/>
              </a:ext>
            </a:extLst>
          </p:cNvPr>
          <p:cNvSpPr/>
          <p:nvPr/>
        </p:nvSpPr>
        <p:spPr>
          <a:xfrm>
            <a:off x="558594" y="3571398"/>
            <a:ext cx="5428767" cy="2873744"/>
          </a:xfrm>
          <a:custGeom>
            <a:avLst/>
            <a:gdLst>
              <a:gd name="csX0" fmla="*/ 0 w 5428767"/>
              <a:gd name="csY0" fmla="*/ 478967 h 2873744"/>
              <a:gd name="csX1" fmla="*/ 478967 w 5428767"/>
              <a:gd name="csY1" fmla="*/ 0 h 2873744"/>
              <a:gd name="csX2" fmla="*/ 1127238 w 5428767"/>
              <a:gd name="csY2" fmla="*/ 0 h 2873744"/>
              <a:gd name="csX3" fmla="*/ 1641384 w 5428767"/>
              <a:gd name="csY3" fmla="*/ 0 h 2873744"/>
              <a:gd name="csX4" fmla="*/ 2110821 w 5428767"/>
              <a:gd name="csY4" fmla="*/ 0 h 2873744"/>
              <a:gd name="csX5" fmla="*/ 2714384 w 5428767"/>
              <a:gd name="csY5" fmla="*/ 0 h 2873744"/>
              <a:gd name="csX6" fmla="*/ 3228529 w 5428767"/>
              <a:gd name="csY6" fmla="*/ 0 h 2873744"/>
              <a:gd name="csX7" fmla="*/ 3876800 w 5428767"/>
              <a:gd name="csY7" fmla="*/ 0 h 2873744"/>
              <a:gd name="csX8" fmla="*/ 4346238 w 5428767"/>
              <a:gd name="csY8" fmla="*/ 0 h 2873744"/>
              <a:gd name="csX9" fmla="*/ 4949800 w 5428767"/>
              <a:gd name="csY9" fmla="*/ 0 h 2873744"/>
              <a:gd name="csX10" fmla="*/ 5428767 w 5428767"/>
              <a:gd name="csY10" fmla="*/ 478967 h 2873744"/>
              <a:gd name="csX11" fmla="*/ 5428767 w 5428767"/>
              <a:gd name="csY11" fmla="*/ 957920 h 2873744"/>
              <a:gd name="csX12" fmla="*/ 5428767 w 5428767"/>
              <a:gd name="csY12" fmla="*/ 1417714 h 2873744"/>
              <a:gd name="csX13" fmla="*/ 5428767 w 5428767"/>
              <a:gd name="csY13" fmla="*/ 1934983 h 2873744"/>
              <a:gd name="csX14" fmla="*/ 5428767 w 5428767"/>
              <a:gd name="csY14" fmla="*/ 2394777 h 2873744"/>
              <a:gd name="csX15" fmla="*/ 4949800 w 5428767"/>
              <a:gd name="csY15" fmla="*/ 2873744 h 2873744"/>
              <a:gd name="csX16" fmla="*/ 4346238 w 5428767"/>
              <a:gd name="csY16" fmla="*/ 2873744 h 2873744"/>
              <a:gd name="csX17" fmla="*/ 3787383 w 5428767"/>
              <a:gd name="csY17" fmla="*/ 2873744 h 2873744"/>
              <a:gd name="csX18" fmla="*/ 3362654 w 5428767"/>
              <a:gd name="csY18" fmla="*/ 2873744 h 2873744"/>
              <a:gd name="csX19" fmla="*/ 2893217 w 5428767"/>
              <a:gd name="csY19" fmla="*/ 2873744 h 2873744"/>
              <a:gd name="csX20" fmla="*/ 2244946 w 5428767"/>
              <a:gd name="csY20" fmla="*/ 2873744 h 2873744"/>
              <a:gd name="csX21" fmla="*/ 1686092 w 5428767"/>
              <a:gd name="csY21" fmla="*/ 2873744 h 2873744"/>
              <a:gd name="csX22" fmla="*/ 1216654 w 5428767"/>
              <a:gd name="csY22" fmla="*/ 2873744 h 2873744"/>
              <a:gd name="csX23" fmla="*/ 478967 w 5428767"/>
              <a:gd name="csY23" fmla="*/ 2873744 h 2873744"/>
              <a:gd name="csX24" fmla="*/ 0 w 5428767"/>
              <a:gd name="csY24" fmla="*/ 2394777 h 2873744"/>
              <a:gd name="csX25" fmla="*/ 0 w 5428767"/>
              <a:gd name="csY25" fmla="*/ 1915825 h 2873744"/>
              <a:gd name="csX26" fmla="*/ 0 w 5428767"/>
              <a:gd name="csY26" fmla="*/ 1475188 h 2873744"/>
              <a:gd name="csX27" fmla="*/ 0 w 5428767"/>
              <a:gd name="csY27" fmla="*/ 977078 h 2873744"/>
              <a:gd name="csX28" fmla="*/ 0 w 5428767"/>
              <a:gd name="csY28" fmla="*/ 478967 h 28737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5428767" h="2873744" extrusionOk="0">
                <a:moveTo>
                  <a:pt x="0" y="478967"/>
                </a:moveTo>
                <a:cubicBezTo>
                  <a:pt x="-16632" y="204182"/>
                  <a:pt x="148600" y="24711"/>
                  <a:pt x="478967" y="0"/>
                </a:cubicBezTo>
                <a:cubicBezTo>
                  <a:pt x="730006" y="-65277"/>
                  <a:pt x="913625" y="53865"/>
                  <a:pt x="1127238" y="0"/>
                </a:cubicBezTo>
                <a:cubicBezTo>
                  <a:pt x="1340851" y="-53865"/>
                  <a:pt x="1416684" y="39932"/>
                  <a:pt x="1641384" y="0"/>
                </a:cubicBezTo>
                <a:cubicBezTo>
                  <a:pt x="1866084" y="-39932"/>
                  <a:pt x="2003508" y="21267"/>
                  <a:pt x="2110821" y="0"/>
                </a:cubicBezTo>
                <a:cubicBezTo>
                  <a:pt x="2218134" y="-21267"/>
                  <a:pt x="2490539" y="67209"/>
                  <a:pt x="2714384" y="0"/>
                </a:cubicBezTo>
                <a:cubicBezTo>
                  <a:pt x="2938229" y="-67209"/>
                  <a:pt x="3120282" y="28823"/>
                  <a:pt x="3228529" y="0"/>
                </a:cubicBezTo>
                <a:cubicBezTo>
                  <a:pt x="3336776" y="-28823"/>
                  <a:pt x="3621745" y="40695"/>
                  <a:pt x="3876800" y="0"/>
                </a:cubicBezTo>
                <a:cubicBezTo>
                  <a:pt x="4131855" y="-40695"/>
                  <a:pt x="4209996" y="36713"/>
                  <a:pt x="4346238" y="0"/>
                </a:cubicBezTo>
                <a:cubicBezTo>
                  <a:pt x="4482480" y="-36713"/>
                  <a:pt x="4823830" y="53038"/>
                  <a:pt x="4949800" y="0"/>
                </a:cubicBezTo>
                <a:cubicBezTo>
                  <a:pt x="5291463" y="18547"/>
                  <a:pt x="5394554" y="208907"/>
                  <a:pt x="5428767" y="478967"/>
                </a:cubicBezTo>
                <a:cubicBezTo>
                  <a:pt x="5467067" y="604577"/>
                  <a:pt x="5372572" y="859376"/>
                  <a:pt x="5428767" y="957920"/>
                </a:cubicBezTo>
                <a:cubicBezTo>
                  <a:pt x="5484962" y="1056464"/>
                  <a:pt x="5403489" y="1284582"/>
                  <a:pt x="5428767" y="1417714"/>
                </a:cubicBezTo>
                <a:cubicBezTo>
                  <a:pt x="5454045" y="1550846"/>
                  <a:pt x="5397787" y="1767295"/>
                  <a:pt x="5428767" y="1934983"/>
                </a:cubicBezTo>
                <a:cubicBezTo>
                  <a:pt x="5459747" y="2102671"/>
                  <a:pt x="5426488" y="2183393"/>
                  <a:pt x="5428767" y="2394777"/>
                </a:cubicBezTo>
                <a:cubicBezTo>
                  <a:pt x="5419078" y="2660894"/>
                  <a:pt x="5185872" y="2854111"/>
                  <a:pt x="4949800" y="2873744"/>
                </a:cubicBezTo>
                <a:cubicBezTo>
                  <a:pt x="4762450" y="2878000"/>
                  <a:pt x="4557717" y="2866947"/>
                  <a:pt x="4346238" y="2873744"/>
                </a:cubicBezTo>
                <a:cubicBezTo>
                  <a:pt x="4134759" y="2880541"/>
                  <a:pt x="4046644" y="2870239"/>
                  <a:pt x="3787383" y="2873744"/>
                </a:cubicBezTo>
                <a:cubicBezTo>
                  <a:pt x="3528123" y="2877249"/>
                  <a:pt x="3555071" y="2832977"/>
                  <a:pt x="3362654" y="2873744"/>
                </a:cubicBezTo>
                <a:cubicBezTo>
                  <a:pt x="3170237" y="2914511"/>
                  <a:pt x="3011612" y="2825669"/>
                  <a:pt x="2893217" y="2873744"/>
                </a:cubicBezTo>
                <a:cubicBezTo>
                  <a:pt x="2774822" y="2921819"/>
                  <a:pt x="2454402" y="2864503"/>
                  <a:pt x="2244946" y="2873744"/>
                </a:cubicBezTo>
                <a:cubicBezTo>
                  <a:pt x="2035490" y="2882985"/>
                  <a:pt x="1945013" y="2808666"/>
                  <a:pt x="1686092" y="2873744"/>
                </a:cubicBezTo>
                <a:cubicBezTo>
                  <a:pt x="1427171" y="2938822"/>
                  <a:pt x="1326915" y="2872523"/>
                  <a:pt x="1216654" y="2873744"/>
                </a:cubicBezTo>
                <a:cubicBezTo>
                  <a:pt x="1106393" y="2874965"/>
                  <a:pt x="652218" y="2789975"/>
                  <a:pt x="478967" y="2873744"/>
                </a:cubicBezTo>
                <a:cubicBezTo>
                  <a:pt x="145046" y="2869817"/>
                  <a:pt x="54624" y="2706331"/>
                  <a:pt x="0" y="2394777"/>
                </a:cubicBezTo>
                <a:cubicBezTo>
                  <a:pt x="-31538" y="2237772"/>
                  <a:pt x="54374" y="2046161"/>
                  <a:pt x="0" y="1915825"/>
                </a:cubicBezTo>
                <a:cubicBezTo>
                  <a:pt x="-54374" y="1785489"/>
                  <a:pt x="5010" y="1607753"/>
                  <a:pt x="0" y="1475188"/>
                </a:cubicBezTo>
                <a:cubicBezTo>
                  <a:pt x="-5010" y="1342623"/>
                  <a:pt x="48397" y="1173679"/>
                  <a:pt x="0" y="977078"/>
                </a:cubicBezTo>
                <a:cubicBezTo>
                  <a:pt x="-48397" y="780477"/>
                  <a:pt x="3576" y="652304"/>
                  <a:pt x="0" y="478967"/>
                </a:cubicBezTo>
                <a:close/>
              </a:path>
            </a:pathLst>
          </a:custGeom>
          <a:noFill/>
          <a:ln w="15875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5980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87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noProof="0" dirty="0">
                <a:latin typeface="+mj-lt"/>
              </a:rPr>
              <a:t>Uma Estratégia Melhor – </a:t>
            </a:r>
          </a:p>
          <a:p>
            <a:pPr algn="r"/>
            <a:r>
              <a:rPr lang="pt-BR" sz="3200" noProof="0" dirty="0">
                <a:latin typeface="+mj-lt"/>
              </a:rPr>
              <a:t>Conteúdo dos Scripts: </a:t>
            </a:r>
            <a:r>
              <a:rPr lang="pt-BR" sz="3200" u="sng" noProof="0" dirty="0">
                <a:latin typeface="+mj-lt"/>
              </a:rPr>
              <a:t>Arquivos do Projeto</a:t>
            </a:r>
            <a:endParaRPr lang="pt-BR" sz="3000" u="sng" noProof="0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0">
            <a:extLst>
              <a:ext uri="{FF2B5EF4-FFF2-40B4-BE49-F238E27FC236}">
                <a16:creationId xmlns:a16="http://schemas.microsoft.com/office/drawing/2014/main" id="{2B8E180A-18AF-4545-A932-A15270C00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88" y="1776859"/>
            <a:ext cx="5124015" cy="4599744"/>
          </a:xfrm>
          <a:prstGeom prst="rect">
            <a:avLst/>
          </a:prstGeom>
        </p:spPr>
      </p:pic>
      <p:pic>
        <p:nvPicPr>
          <p:cNvPr id="15" name="Picture 16">
            <a:extLst>
              <a:ext uri="{FF2B5EF4-FFF2-40B4-BE49-F238E27FC236}">
                <a16:creationId xmlns:a16="http://schemas.microsoft.com/office/drawing/2014/main" id="{2EC0058A-C6CA-4C1C-BD48-FE41E38E34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484" y="1776859"/>
            <a:ext cx="5854747" cy="4599744"/>
          </a:xfrm>
          <a:prstGeom prst="rect">
            <a:avLst/>
          </a:prstGeom>
        </p:spPr>
      </p:pic>
      <p:sp>
        <p:nvSpPr>
          <p:cNvPr id="19" name="Rectangle: Rounded Corners 2">
            <a:extLst>
              <a:ext uri="{FF2B5EF4-FFF2-40B4-BE49-F238E27FC236}">
                <a16:creationId xmlns:a16="http://schemas.microsoft.com/office/drawing/2014/main" id="{450672D2-0F3A-4CF8-8AE5-2DD4ED3684E5}"/>
              </a:ext>
            </a:extLst>
          </p:cNvPr>
          <p:cNvSpPr/>
          <p:nvPr/>
        </p:nvSpPr>
        <p:spPr>
          <a:xfrm>
            <a:off x="921533" y="5278549"/>
            <a:ext cx="1845194" cy="1054934"/>
          </a:xfrm>
          <a:custGeom>
            <a:avLst/>
            <a:gdLst>
              <a:gd name="csX0" fmla="*/ 0 w 1845194"/>
              <a:gd name="csY0" fmla="*/ 175826 h 1054934"/>
              <a:gd name="csX1" fmla="*/ 175826 w 1845194"/>
              <a:gd name="csY1" fmla="*/ 0 h 1054934"/>
              <a:gd name="csX2" fmla="*/ 703544 w 1845194"/>
              <a:gd name="csY2" fmla="*/ 0 h 1054934"/>
              <a:gd name="csX3" fmla="*/ 1186456 w 1845194"/>
              <a:gd name="csY3" fmla="*/ 0 h 1054934"/>
              <a:gd name="csX4" fmla="*/ 1669368 w 1845194"/>
              <a:gd name="csY4" fmla="*/ 0 h 1054934"/>
              <a:gd name="csX5" fmla="*/ 1845194 w 1845194"/>
              <a:gd name="csY5" fmla="*/ 175826 h 1054934"/>
              <a:gd name="csX6" fmla="*/ 1845194 w 1845194"/>
              <a:gd name="csY6" fmla="*/ 513401 h 1054934"/>
              <a:gd name="csX7" fmla="*/ 1845194 w 1845194"/>
              <a:gd name="csY7" fmla="*/ 879108 h 1054934"/>
              <a:gd name="csX8" fmla="*/ 1669368 w 1845194"/>
              <a:gd name="csY8" fmla="*/ 1054934 h 1054934"/>
              <a:gd name="csX9" fmla="*/ 1201392 w 1845194"/>
              <a:gd name="csY9" fmla="*/ 1054934 h 1054934"/>
              <a:gd name="csX10" fmla="*/ 703544 w 1845194"/>
              <a:gd name="csY10" fmla="*/ 1054934 h 1054934"/>
              <a:gd name="csX11" fmla="*/ 175826 w 1845194"/>
              <a:gd name="csY11" fmla="*/ 1054934 h 1054934"/>
              <a:gd name="csX12" fmla="*/ 0 w 1845194"/>
              <a:gd name="csY12" fmla="*/ 879108 h 1054934"/>
              <a:gd name="csX13" fmla="*/ 0 w 1845194"/>
              <a:gd name="csY13" fmla="*/ 527467 h 1054934"/>
              <a:gd name="csX14" fmla="*/ 0 w 1845194"/>
              <a:gd name="csY14" fmla="*/ 175826 h 1054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45194" h="1054934" extrusionOk="0">
                <a:moveTo>
                  <a:pt x="0" y="175826"/>
                </a:moveTo>
                <a:cubicBezTo>
                  <a:pt x="-15841" y="68949"/>
                  <a:pt x="53912" y="9311"/>
                  <a:pt x="175826" y="0"/>
                </a:cubicBezTo>
                <a:cubicBezTo>
                  <a:pt x="403768" y="-20540"/>
                  <a:pt x="448896" y="19177"/>
                  <a:pt x="703544" y="0"/>
                </a:cubicBezTo>
                <a:cubicBezTo>
                  <a:pt x="958192" y="-19177"/>
                  <a:pt x="1058919" y="35873"/>
                  <a:pt x="1186456" y="0"/>
                </a:cubicBezTo>
                <a:cubicBezTo>
                  <a:pt x="1313993" y="-35873"/>
                  <a:pt x="1541879" y="10200"/>
                  <a:pt x="1669368" y="0"/>
                </a:cubicBezTo>
                <a:cubicBezTo>
                  <a:pt x="1763911" y="-8257"/>
                  <a:pt x="1848568" y="66236"/>
                  <a:pt x="1845194" y="175826"/>
                </a:cubicBezTo>
                <a:cubicBezTo>
                  <a:pt x="1851921" y="280342"/>
                  <a:pt x="1817268" y="410183"/>
                  <a:pt x="1845194" y="513401"/>
                </a:cubicBezTo>
                <a:cubicBezTo>
                  <a:pt x="1873120" y="616619"/>
                  <a:pt x="1827606" y="781745"/>
                  <a:pt x="1845194" y="879108"/>
                </a:cubicBezTo>
                <a:cubicBezTo>
                  <a:pt x="1833555" y="995467"/>
                  <a:pt x="1762433" y="1050247"/>
                  <a:pt x="1669368" y="1054934"/>
                </a:cubicBezTo>
                <a:cubicBezTo>
                  <a:pt x="1443515" y="1089171"/>
                  <a:pt x="1394906" y="1024220"/>
                  <a:pt x="1201392" y="1054934"/>
                </a:cubicBezTo>
                <a:cubicBezTo>
                  <a:pt x="1007878" y="1085648"/>
                  <a:pt x="938794" y="1003710"/>
                  <a:pt x="703544" y="1054934"/>
                </a:cubicBezTo>
                <a:cubicBezTo>
                  <a:pt x="468294" y="1106158"/>
                  <a:pt x="433483" y="1030323"/>
                  <a:pt x="175826" y="1054934"/>
                </a:cubicBezTo>
                <a:cubicBezTo>
                  <a:pt x="88891" y="1067392"/>
                  <a:pt x="20942" y="957878"/>
                  <a:pt x="0" y="879108"/>
                </a:cubicBezTo>
                <a:cubicBezTo>
                  <a:pt x="-10396" y="710342"/>
                  <a:pt x="7754" y="684472"/>
                  <a:pt x="0" y="527467"/>
                </a:cubicBezTo>
                <a:cubicBezTo>
                  <a:pt x="-7754" y="370462"/>
                  <a:pt x="25905" y="276183"/>
                  <a:pt x="0" y="175826"/>
                </a:cubicBezTo>
                <a:close/>
              </a:path>
            </a:pathLst>
          </a:custGeom>
          <a:noFill/>
          <a:ln w="15875">
            <a:solidFill>
              <a:schemeClr val="accent3">
                <a:lumMod val="20000"/>
                <a:lumOff val="8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: Rounded Corners 3">
            <a:extLst>
              <a:ext uri="{FF2B5EF4-FFF2-40B4-BE49-F238E27FC236}">
                <a16:creationId xmlns:a16="http://schemas.microsoft.com/office/drawing/2014/main" id="{E79AD5C7-47EC-4DB1-9547-46FD4975E3F3}"/>
              </a:ext>
            </a:extLst>
          </p:cNvPr>
          <p:cNvSpPr/>
          <p:nvPr/>
        </p:nvSpPr>
        <p:spPr>
          <a:xfrm>
            <a:off x="2843588" y="5321669"/>
            <a:ext cx="2579750" cy="1054934"/>
          </a:xfrm>
          <a:custGeom>
            <a:avLst/>
            <a:gdLst>
              <a:gd name="csX0" fmla="*/ 0 w 2579750"/>
              <a:gd name="csY0" fmla="*/ 175826 h 1054934"/>
              <a:gd name="csX1" fmla="*/ 175826 w 2579750"/>
              <a:gd name="csY1" fmla="*/ 0 h 1054934"/>
              <a:gd name="csX2" fmla="*/ 777412 w 2579750"/>
              <a:gd name="csY2" fmla="*/ 0 h 1054934"/>
              <a:gd name="csX3" fmla="*/ 1312156 w 2579750"/>
              <a:gd name="csY3" fmla="*/ 0 h 1054934"/>
              <a:gd name="csX4" fmla="*/ 1824619 w 2579750"/>
              <a:gd name="csY4" fmla="*/ 0 h 1054934"/>
              <a:gd name="csX5" fmla="*/ 2403924 w 2579750"/>
              <a:gd name="csY5" fmla="*/ 0 h 1054934"/>
              <a:gd name="csX6" fmla="*/ 2579750 w 2579750"/>
              <a:gd name="csY6" fmla="*/ 175826 h 1054934"/>
              <a:gd name="csX7" fmla="*/ 2579750 w 2579750"/>
              <a:gd name="csY7" fmla="*/ 527467 h 1054934"/>
              <a:gd name="csX8" fmla="*/ 2579750 w 2579750"/>
              <a:gd name="csY8" fmla="*/ 879108 h 1054934"/>
              <a:gd name="csX9" fmla="*/ 2403924 w 2579750"/>
              <a:gd name="csY9" fmla="*/ 1054934 h 1054934"/>
              <a:gd name="csX10" fmla="*/ 1846900 w 2579750"/>
              <a:gd name="csY10" fmla="*/ 1054934 h 1054934"/>
              <a:gd name="csX11" fmla="*/ 1312156 w 2579750"/>
              <a:gd name="csY11" fmla="*/ 1054934 h 1054934"/>
              <a:gd name="csX12" fmla="*/ 710570 w 2579750"/>
              <a:gd name="csY12" fmla="*/ 1054934 h 1054934"/>
              <a:gd name="csX13" fmla="*/ 175826 w 2579750"/>
              <a:gd name="csY13" fmla="*/ 1054934 h 1054934"/>
              <a:gd name="csX14" fmla="*/ 0 w 2579750"/>
              <a:gd name="csY14" fmla="*/ 879108 h 1054934"/>
              <a:gd name="csX15" fmla="*/ 0 w 2579750"/>
              <a:gd name="csY15" fmla="*/ 520434 h 1054934"/>
              <a:gd name="csX16" fmla="*/ 0 w 2579750"/>
              <a:gd name="csY16" fmla="*/ 175826 h 1054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79750" h="1054934" extrusionOk="0">
                <a:moveTo>
                  <a:pt x="0" y="175826"/>
                </a:moveTo>
                <a:cubicBezTo>
                  <a:pt x="-15841" y="68949"/>
                  <a:pt x="53912" y="9311"/>
                  <a:pt x="175826" y="0"/>
                </a:cubicBezTo>
                <a:cubicBezTo>
                  <a:pt x="296971" y="-55246"/>
                  <a:pt x="504234" y="12567"/>
                  <a:pt x="777412" y="0"/>
                </a:cubicBezTo>
                <a:cubicBezTo>
                  <a:pt x="1050590" y="-12567"/>
                  <a:pt x="1108285" y="56836"/>
                  <a:pt x="1312156" y="0"/>
                </a:cubicBezTo>
                <a:cubicBezTo>
                  <a:pt x="1516027" y="-56836"/>
                  <a:pt x="1650147" y="28432"/>
                  <a:pt x="1824619" y="0"/>
                </a:cubicBezTo>
                <a:cubicBezTo>
                  <a:pt x="1999091" y="-28432"/>
                  <a:pt x="2169432" y="65619"/>
                  <a:pt x="2403924" y="0"/>
                </a:cubicBezTo>
                <a:cubicBezTo>
                  <a:pt x="2507996" y="-14336"/>
                  <a:pt x="2568955" y="77067"/>
                  <a:pt x="2579750" y="175826"/>
                </a:cubicBezTo>
                <a:cubicBezTo>
                  <a:pt x="2613494" y="256433"/>
                  <a:pt x="2566230" y="390743"/>
                  <a:pt x="2579750" y="527467"/>
                </a:cubicBezTo>
                <a:cubicBezTo>
                  <a:pt x="2593270" y="664191"/>
                  <a:pt x="2568734" y="751787"/>
                  <a:pt x="2579750" y="879108"/>
                </a:cubicBezTo>
                <a:cubicBezTo>
                  <a:pt x="2586014" y="977720"/>
                  <a:pt x="2493591" y="1053731"/>
                  <a:pt x="2403924" y="1054934"/>
                </a:cubicBezTo>
                <a:cubicBezTo>
                  <a:pt x="2159579" y="1102805"/>
                  <a:pt x="2100417" y="1019310"/>
                  <a:pt x="1846900" y="1054934"/>
                </a:cubicBezTo>
                <a:cubicBezTo>
                  <a:pt x="1593383" y="1090558"/>
                  <a:pt x="1513760" y="1020316"/>
                  <a:pt x="1312156" y="1054934"/>
                </a:cubicBezTo>
                <a:cubicBezTo>
                  <a:pt x="1110552" y="1089552"/>
                  <a:pt x="840373" y="1035391"/>
                  <a:pt x="710570" y="1054934"/>
                </a:cubicBezTo>
                <a:cubicBezTo>
                  <a:pt x="580767" y="1074477"/>
                  <a:pt x="382427" y="1040258"/>
                  <a:pt x="175826" y="1054934"/>
                </a:cubicBezTo>
                <a:cubicBezTo>
                  <a:pt x="50894" y="1059503"/>
                  <a:pt x="-5574" y="972368"/>
                  <a:pt x="0" y="879108"/>
                </a:cubicBezTo>
                <a:cubicBezTo>
                  <a:pt x="-22704" y="773204"/>
                  <a:pt x="8515" y="649815"/>
                  <a:pt x="0" y="520434"/>
                </a:cubicBezTo>
                <a:cubicBezTo>
                  <a:pt x="-8515" y="391053"/>
                  <a:pt x="38779" y="324796"/>
                  <a:pt x="0" y="175826"/>
                </a:cubicBezTo>
                <a:close/>
              </a:path>
            </a:pathLst>
          </a:custGeom>
          <a:noFill/>
          <a:ln w="15875">
            <a:solidFill>
              <a:schemeClr val="accent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: Rounded Corners 4">
            <a:extLst>
              <a:ext uri="{FF2B5EF4-FFF2-40B4-BE49-F238E27FC236}">
                <a16:creationId xmlns:a16="http://schemas.microsoft.com/office/drawing/2014/main" id="{690BD624-DD30-407B-B9E4-1EF4CCDBF686}"/>
              </a:ext>
            </a:extLst>
          </p:cNvPr>
          <p:cNvSpPr/>
          <p:nvPr/>
        </p:nvSpPr>
        <p:spPr>
          <a:xfrm>
            <a:off x="6514143" y="2088773"/>
            <a:ext cx="5288227" cy="3468888"/>
          </a:xfrm>
          <a:custGeom>
            <a:avLst/>
            <a:gdLst>
              <a:gd name="csX0" fmla="*/ 0 w 5288227"/>
              <a:gd name="csY0" fmla="*/ 578160 h 3468888"/>
              <a:gd name="csX1" fmla="*/ 578160 w 5288227"/>
              <a:gd name="csY1" fmla="*/ 0 h 3468888"/>
              <a:gd name="csX2" fmla="*/ 1251071 w 5288227"/>
              <a:gd name="csY2" fmla="*/ 0 h 3468888"/>
              <a:gd name="csX3" fmla="*/ 1800024 w 5288227"/>
              <a:gd name="csY3" fmla="*/ 0 h 3468888"/>
              <a:gd name="csX4" fmla="*/ 2307658 w 5288227"/>
              <a:gd name="csY4" fmla="*/ 0 h 3468888"/>
              <a:gd name="csX5" fmla="*/ 2939250 w 5288227"/>
              <a:gd name="csY5" fmla="*/ 0 h 3468888"/>
              <a:gd name="csX6" fmla="*/ 3488203 w 5288227"/>
              <a:gd name="csY6" fmla="*/ 0 h 3468888"/>
              <a:gd name="csX7" fmla="*/ 4161114 w 5288227"/>
              <a:gd name="csY7" fmla="*/ 0 h 3468888"/>
              <a:gd name="csX8" fmla="*/ 4710067 w 5288227"/>
              <a:gd name="csY8" fmla="*/ 0 h 3468888"/>
              <a:gd name="csX9" fmla="*/ 5288227 w 5288227"/>
              <a:gd name="csY9" fmla="*/ 578160 h 3468888"/>
              <a:gd name="csX10" fmla="*/ 5288227 w 5288227"/>
              <a:gd name="csY10" fmla="*/ 1110051 h 3468888"/>
              <a:gd name="csX11" fmla="*/ 5288227 w 5288227"/>
              <a:gd name="csY11" fmla="*/ 1688193 h 3468888"/>
              <a:gd name="csX12" fmla="*/ 5288227 w 5288227"/>
              <a:gd name="csY12" fmla="*/ 2243209 h 3468888"/>
              <a:gd name="csX13" fmla="*/ 5288227 w 5288227"/>
              <a:gd name="csY13" fmla="*/ 2890728 h 3468888"/>
              <a:gd name="csX14" fmla="*/ 4710067 w 5288227"/>
              <a:gd name="csY14" fmla="*/ 3468888 h 3468888"/>
              <a:gd name="csX15" fmla="*/ 4119795 w 5288227"/>
              <a:gd name="csY15" fmla="*/ 3468888 h 3468888"/>
              <a:gd name="csX16" fmla="*/ 3446884 w 5288227"/>
              <a:gd name="csY16" fmla="*/ 3468888 h 3468888"/>
              <a:gd name="csX17" fmla="*/ 2856612 w 5288227"/>
              <a:gd name="csY17" fmla="*/ 3468888 h 3468888"/>
              <a:gd name="csX18" fmla="*/ 2390296 w 5288227"/>
              <a:gd name="csY18" fmla="*/ 3468888 h 3468888"/>
              <a:gd name="csX19" fmla="*/ 1882662 w 5288227"/>
              <a:gd name="csY19" fmla="*/ 3468888 h 3468888"/>
              <a:gd name="csX20" fmla="*/ 1209751 w 5288227"/>
              <a:gd name="csY20" fmla="*/ 3468888 h 3468888"/>
              <a:gd name="csX21" fmla="*/ 578160 w 5288227"/>
              <a:gd name="csY21" fmla="*/ 3468888 h 3468888"/>
              <a:gd name="csX22" fmla="*/ 0 w 5288227"/>
              <a:gd name="csY22" fmla="*/ 2890728 h 3468888"/>
              <a:gd name="csX23" fmla="*/ 0 w 5288227"/>
              <a:gd name="csY23" fmla="*/ 2289460 h 3468888"/>
              <a:gd name="csX24" fmla="*/ 0 w 5288227"/>
              <a:gd name="csY24" fmla="*/ 1780695 h 3468888"/>
              <a:gd name="csX25" fmla="*/ 0 w 5288227"/>
              <a:gd name="csY25" fmla="*/ 1202553 h 3468888"/>
              <a:gd name="csX26" fmla="*/ 0 w 5288227"/>
              <a:gd name="csY26" fmla="*/ 578160 h 3468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288227" h="3468888" extrusionOk="0">
                <a:moveTo>
                  <a:pt x="0" y="578160"/>
                </a:moveTo>
                <a:cubicBezTo>
                  <a:pt x="-36595" y="236278"/>
                  <a:pt x="246912" y="4481"/>
                  <a:pt x="578160" y="0"/>
                </a:cubicBezTo>
                <a:cubicBezTo>
                  <a:pt x="801453" y="-39502"/>
                  <a:pt x="999116" y="31573"/>
                  <a:pt x="1251071" y="0"/>
                </a:cubicBezTo>
                <a:cubicBezTo>
                  <a:pt x="1503026" y="-31573"/>
                  <a:pt x="1630212" y="7450"/>
                  <a:pt x="1800024" y="0"/>
                </a:cubicBezTo>
                <a:cubicBezTo>
                  <a:pt x="1969836" y="-7450"/>
                  <a:pt x="2083270" y="11114"/>
                  <a:pt x="2307658" y="0"/>
                </a:cubicBezTo>
                <a:cubicBezTo>
                  <a:pt x="2532046" y="-11114"/>
                  <a:pt x="2792747" y="75700"/>
                  <a:pt x="2939250" y="0"/>
                </a:cubicBezTo>
                <a:cubicBezTo>
                  <a:pt x="3085753" y="-75700"/>
                  <a:pt x="3294583" y="25406"/>
                  <a:pt x="3488203" y="0"/>
                </a:cubicBezTo>
                <a:cubicBezTo>
                  <a:pt x="3681823" y="-25406"/>
                  <a:pt x="3904110" y="12553"/>
                  <a:pt x="4161114" y="0"/>
                </a:cubicBezTo>
                <a:cubicBezTo>
                  <a:pt x="4418118" y="-12553"/>
                  <a:pt x="4494582" y="62446"/>
                  <a:pt x="4710067" y="0"/>
                </a:cubicBezTo>
                <a:cubicBezTo>
                  <a:pt x="4989666" y="65691"/>
                  <a:pt x="5245012" y="208728"/>
                  <a:pt x="5288227" y="578160"/>
                </a:cubicBezTo>
                <a:cubicBezTo>
                  <a:pt x="5315685" y="786064"/>
                  <a:pt x="5250227" y="956446"/>
                  <a:pt x="5288227" y="1110051"/>
                </a:cubicBezTo>
                <a:cubicBezTo>
                  <a:pt x="5326227" y="1263656"/>
                  <a:pt x="5244904" y="1561820"/>
                  <a:pt x="5288227" y="1688193"/>
                </a:cubicBezTo>
                <a:cubicBezTo>
                  <a:pt x="5331550" y="1814566"/>
                  <a:pt x="5274629" y="1982053"/>
                  <a:pt x="5288227" y="2243209"/>
                </a:cubicBezTo>
                <a:cubicBezTo>
                  <a:pt x="5301825" y="2504365"/>
                  <a:pt x="5212213" y="2754566"/>
                  <a:pt x="5288227" y="2890728"/>
                </a:cubicBezTo>
                <a:cubicBezTo>
                  <a:pt x="5318288" y="3172719"/>
                  <a:pt x="4941426" y="3434889"/>
                  <a:pt x="4710067" y="3468888"/>
                </a:cubicBezTo>
                <a:cubicBezTo>
                  <a:pt x="4443870" y="3536904"/>
                  <a:pt x="4336928" y="3430126"/>
                  <a:pt x="4119795" y="3468888"/>
                </a:cubicBezTo>
                <a:cubicBezTo>
                  <a:pt x="3902662" y="3507650"/>
                  <a:pt x="3751026" y="3436983"/>
                  <a:pt x="3446884" y="3468888"/>
                </a:cubicBezTo>
                <a:cubicBezTo>
                  <a:pt x="3142742" y="3500793"/>
                  <a:pt x="3083448" y="3425966"/>
                  <a:pt x="2856612" y="3468888"/>
                </a:cubicBezTo>
                <a:cubicBezTo>
                  <a:pt x="2629776" y="3511810"/>
                  <a:pt x="2597484" y="3413692"/>
                  <a:pt x="2390296" y="3468888"/>
                </a:cubicBezTo>
                <a:cubicBezTo>
                  <a:pt x="2183108" y="3524084"/>
                  <a:pt x="2112510" y="3446836"/>
                  <a:pt x="1882662" y="3468888"/>
                </a:cubicBezTo>
                <a:cubicBezTo>
                  <a:pt x="1652814" y="3490940"/>
                  <a:pt x="1368118" y="3453215"/>
                  <a:pt x="1209751" y="3468888"/>
                </a:cubicBezTo>
                <a:cubicBezTo>
                  <a:pt x="1051384" y="3484561"/>
                  <a:pt x="836610" y="3466953"/>
                  <a:pt x="578160" y="3468888"/>
                </a:cubicBezTo>
                <a:cubicBezTo>
                  <a:pt x="279108" y="3508998"/>
                  <a:pt x="-13439" y="3217124"/>
                  <a:pt x="0" y="2890728"/>
                </a:cubicBezTo>
                <a:cubicBezTo>
                  <a:pt x="-23358" y="2665034"/>
                  <a:pt x="43743" y="2562043"/>
                  <a:pt x="0" y="2289460"/>
                </a:cubicBezTo>
                <a:cubicBezTo>
                  <a:pt x="-43743" y="2016877"/>
                  <a:pt x="46261" y="1952633"/>
                  <a:pt x="0" y="1780695"/>
                </a:cubicBezTo>
                <a:cubicBezTo>
                  <a:pt x="-46261" y="1608758"/>
                  <a:pt x="29035" y="1481855"/>
                  <a:pt x="0" y="1202553"/>
                </a:cubicBezTo>
                <a:cubicBezTo>
                  <a:pt x="-29035" y="923251"/>
                  <a:pt x="18489" y="862540"/>
                  <a:pt x="0" y="578160"/>
                </a:cubicBezTo>
                <a:close/>
              </a:path>
            </a:pathLst>
          </a:custGeom>
          <a:noFill/>
          <a:ln w="15875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99313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noProof="0" dirty="0">
                <a:latin typeface="Walbaum Display (Títulos)"/>
              </a:rPr>
              <a:t>Uma Estratégia Melhor – </a:t>
            </a:r>
          </a:p>
          <a:p>
            <a:pPr algn="r"/>
            <a:r>
              <a:rPr lang="pt-BR" sz="3200" noProof="0" dirty="0">
                <a:latin typeface="Walbaum Display (Títulos)"/>
              </a:rPr>
              <a:t>Conteúdo dos Scripts: TFVARS &amp; Locals</a:t>
            </a:r>
            <a:endParaRPr lang="pt-BR" sz="3000" noProof="0" dirty="0">
              <a:latin typeface="Walbaum Display (Títulos)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41DE637A-6F60-44B5-B3F5-07FB52E0B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3179" y="2197198"/>
            <a:ext cx="5448579" cy="3961160"/>
          </a:xfrm>
          <a:prstGeom prst="rect">
            <a:avLst/>
          </a:prstGeom>
        </p:spPr>
      </p:pic>
      <p:pic>
        <p:nvPicPr>
          <p:cNvPr id="12" name="Picture 13">
            <a:extLst>
              <a:ext uri="{FF2B5EF4-FFF2-40B4-BE49-F238E27FC236}">
                <a16:creationId xmlns:a16="http://schemas.microsoft.com/office/drawing/2014/main" id="{FCFDB320-B126-45EF-B47A-F77C777B34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081" y="4445221"/>
            <a:ext cx="4715498" cy="1713137"/>
          </a:xfrm>
          <a:prstGeom prst="rect">
            <a:avLst/>
          </a:prstGeom>
        </p:spPr>
      </p:pic>
      <p:pic>
        <p:nvPicPr>
          <p:cNvPr id="13" name="Picture 15">
            <a:extLst>
              <a:ext uri="{FF2B5EF4-FFF2-40B4-BE49-F238E27FC236}">
                <a16:creationId xmlns:a16="http://schemas.microsoft.com/office/drawing/2014/main" id="{3301D073-FB6B-4593-8303-D7B6DA9D7C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080" y="2202515"/>
            <a:ext cx="4576808" cy="1862423"/>
          </a:xfrm>
          <a:prstGeom prst="rect">
            <a:avLst/>
          </a:prstGeom>
        </p:spPr>
      </p:pic>
      <p:sp>
        <p:nvSpPr>
          <p:cNvPr id="16" name="Rectangle: Rounded Corners 2">
            <a:extLst>
              <a:ext uri="{FF2B5EF4-FFF2-40B4-BE49-F238E27FC236}">
                <a16:creationId xmlns:a16="http://schemas.microsoft.com/office/drawing/2014/main" id="{F26AADC4-1027-4489-A56A-65D95C368EF8}"/>
              </a:ext>
            </a:extLst>
          </p:cNvPr>
          <p:cNvSpPr/>
          <p:nvPr/>
        </p:nvSpPr>
        <p:spPr>
          <a:xfrm>
            <a:off x="6194489" y="1984058"/>
            <a:ext cx="5560586" cy="4185572"/>
          </a:xfrm>
          <a:custGeom>
            <a:avLst/>
            <a:gdLst>
              <a:gd name="csX0" fmla="*/ 0 w 5560586"/>
              <a:gd name="csY0" fmla="*/ 697609 h 4185572"/>
              <a:gd name="csX1" fmla="*/ 697609 w 5560586"/>
              <a:gd name="csY1" fmla="*/ 0 h 4185572"/>
              <a:gd name="csX2" fmla="*/ 1375969 w 5560586"/>
              <a:gd name="csY2" fmla="*/ 0 h 4185572"/>
              <a:gd name="csX3" fmla="*/ 1929368 w 5560586"/>
              <a:gd name="csY3" fmla="*/ 0 h 4185572"/>
              <a:gd name="csX4" fmla="*/ 2441113 w 5560586"/>
              <a:gd name="csY4" fmla="*/ 0 h 4185572"/>
              <a:gd name="csX5" fmla="*/ 3077819 w 5560586"/>
              <a:gd name="csY5" fmla="*/ 0 h 4185572"/>
              <a:gd name="csX6" fmla="*/ 3631218 w 5560586"/>
              <a:gd name="csY6" fmla="*/ 0 h 4185572"/>
              <a:gd name="csX7" fmla="*/ 4309578 w 5560586"/>
              <a:gd name="csY7" fmla="*/ 0 h 4185572"/>
              <a:gd name="csX8" fmla="*/ 4862977 w 5560586"/>
              <a:gd name="csY8" fmla="*/ 0 h 4185572"/>
              <a:gd name="csX9" fmla="*/ 5560586 w 5560586"/>
              <a:gd name="csY9" fmla="*/ 697609 h 4185572"/>
              <a:gd name="csX10" fmla="*/ 5560586 w 5560586"/>
              <a:gd name="csY10" fmla="*/ 1199873 h 4185572"/>
              <a:gd name="csX11" fmla="*/ 5560586 w 5560586"/>
              <a:gd name="csY11" fmla="*/ 1757944 h 4185572"/>
              <a:gd name="csX12" fmla="*/ 5560586 w 5560586"/>
              <a:gd name="csY12" fmla="*/ 2288111 h 4185572"/>
              <a:gd name="csX13" fmla="*/ 5560586 w 5560586"/>
              <a:gd name="csY13" fmla="*/ 2901989 h 4185572"/>
              <a:gd name="csX14" fmla="*/ 5560586 w 5560586"/>
              <a:gd name="csY14" fmla="*/ 3487963 h 4185572"/>
              <a:gd name="csX15" fmla="*/ 4862977 w 5560586"/>
              <a:gd name="csY15" fmla="*/ 4185572 h 4185572"/>
              <a:gd name="csX16" fmla="*/ 4226271 w 5560586"/>
              <a:gd name="csY16" fmla="*/ 4185572 h 4185572"/>
              <a:gd name="csX17" fmla="*/ 3631218 w 5560586"/>
              <a:gd name="csY17" fmla="*/ 4185572 h 4185572"/>
              <a:gd name="csX18" fmla="*/ 3161127 w 5560586"/>
              <a:gd name="csY18" fmla="*/ 4185572 h 4185572"/>
              <a:gd name="csX19" fmla="*/ 2649381 w 5560586"/>
              <a:gd name="csY19" fmla="*/ 4185572 h 4185572"/>
              <a:gd name="csX20" fmla="*/ 1971022 w 5560586"/>
              <a:gd name="csY20" fmla="*/ 4185572 h 4185572"/>
              <a:gd name="csX21" fmla="*/ 1375969 w 5560586"/>
              <a:gd name="csY21" fmla="*/ 4185572 h 4185572"/>
              <a:gd name="csX22" fmla="*/ 697609 w 5560586"/>
              <a:gd name="csY22" fmla="*/ 4185572 h 4185572"/>
              <a:gd name="csX23" fmla="*/ 0 w 5560586"/>
              <a:gd name="csY23" fmla="*/ 3487963 h 4185572"/>
              <a:gd name="csX24" fmla="*/ 0 w 5560586"/>
              <a:gd name="csY24" fmla="*/ 2929892 h 4185572"/>
              <a:gd name="csX25" fmla="*/ 0 w 5560586"/>
              <a:gd name="csY25" fmla="*/ 2371821 h 4185572"/>
              <a:gd name="csX26" fmla="*/ 0 w 5560586"/>
              <a:gd name="csY26" fmla="*/ 1869558 h 4185572"/>
              <a:gd name="csX27" fmla="*/ 0 w 5560586"/>
              <a:gd name="csY27" fmla="*/ 1283583 h 4185572"/>
              <a:gd name="csX28" fmla="*/ 0 w 5560586"/>
              <a:gd name="csY28" fmla="*/ 697609 h 4185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5560586" h="4185572" extrusionOk="0">
                <a:moveTo>
                  <a:pt x="0" y="697609"/>
                </a:moveTo>
                <a:cubicBezTo>
                  <a:pt x="-28462" y="294774"/>
                  <a:pt x="232310" y="30033"/>
                  <a:pt x="697609" y="0"/>
                </a:cubicBezTo>
                <a:cubicBezTo>
                  <a:pt x="973971" y="-73087"/>
                  <a:pt x="1196827" y="68146"/>
                  <a:pt x="1375969" y="0"/>
                </a:cubicBezTo>
                <a:cubicBezTo>
                  <a:pt x="1555111" y="-68146"/>
                  <a:pt x="1655795" y="15995"/>
                  <a:pt x="1929368" y="0"/>
                </a:cubicBezTo>
                <a:cubicBezTo>
                  <a:pt x="2202941" y="-15995"/>
                  <a:pt x="2281863" y="39946"/>
                  <a:pt x="2441113" y="0"/>
                </a:cubicBezTo>
                <a:cubicBezTo>
                  <a:pt x="2600363" y="-39946"/>
                  <a:pt x="2864872" y="59926"/>
                  <a:pt x="3077819" y="0"/>
                </a:cubicBezTo>
                <a:cubicBezTo>
                  <a:pt x="3290766" y="-59926"/>
                  <a:pt x="3466706" y="279"/>
                  <a:pt x="3631218" y="0"/>
                </a:cubicBezTo>
                <a:cubicBezTo>
                  <a:pt x="3795730" y="-279"/>
                  <a:pt x="3983120" y="26164"/>
                  <a:pt x="4309578" y="0"/>
                </a:cubicBezTo>
                <a:cubicBezTo>
                  <a:pt x="4636036" y="-26164"/>
                  <a:pt x="4675872" y="39483"/>
                  <a:pt x="4862977" y="0"/>
                </a:cubicBezTo>
                <a:cubicBezTo>
                  <a:pt x="5225046" y="38396"/>
                  <a:pt x="5540735" y="289306"/>
                  <a:pt x="5560586" y="697609"/>
                </a:cubicBezTo>
                <a:cubicBezTo>
                  <a:pt x="5610155" y="882266"/>
                  <a:pt x="5541149" y="1080806"/>
                  <a:pt x="5560586" y="1199873"/>
                </a:cubicBezTo>
                <a:cubicBezTo>
                  <a:pt x="5580023" y="1318940"/>
                  <a:pt x="5551616" y="1616401"/>
                  <a:pt x="5560586" y="1757944"/>
                </a:cubicBezTo>
                <a:cubicBezTo>
                  <a:pt x="5569556" y="1899487"/>
                  <a:pt x="5531823" y="2070913"/>
                  <a:pt x="5560586" y="2288111"/>
                </a:cubicBezTo>
                <a:cubicBezTo>
                  <a:pt x="5589349" y="2505309"/>
                  <a:pt x="5537876" y="2768873"/>
                  <a:pt x="5560586" y="2901989"/>
                </a:cubicBezTo>
                <a:cubicBezTo>
                  <a:pt x="5583296" y="3035105"/>
                  <a:pt x="5539141" y="3289106"/>
                  <a:pt x="5560586" y="3487963"/>
                </a:cubicBezTo>
                <a:cubicBezTo>
                  <a:pt x="5521132" y="3879721"/>
                  <a:pt x="5196955" y="4150175"/>
                  <a:pt x="4862977" y="4185572"/>
                </a:cubicBezTo>
                <a:cubicBezTo>
                  <a:pt x="4622838" y="4233589"/>
                  <a:pt x="4371556" y="4121904"/>
                  <a:pt x="4226271" y="4185572"/>
                </a:cubicBezTo>
                <a:cubicBezTo>
                  <a:pt x="4080986" y="4249240"/>
                  <a:pt x="3760720" y="4130434"/>
                  <a:pt x="3631218" y="4185572"/>
                </a:cubicBezTo>
                <a:cubicBezTo>
                  <a:pt x="3501716" y="4240710"/>
                  <a:pt x="3314860" y="4183743"/>
                  <a:pt x="3161127" y="4185572"/>
                </a:cubicBezTo>
                <a:cubicBezTo>
                  <a:pt x="3007394" y="4187401"/>
                  <a:pt x="2880829" y="4147347"/>
                  <a:pt x="2649381" y="4185572"/>
                </a:cubicBezTo>
                <a:cubicBezTo>
                  <a:pt x="2417933" y="4223797"/>
                  <a:pt x="2259018" y="4115854"/>
                  <a:pt x="1971022" y="4185572"/>
                </a:cubicBezTo>
                <a:cubicBezTo>
                  <a:pt x="1683026" y="4255290"/>
                  <a:pt x="1558415" y="4121225"/>
                  <a:pt x="1375969" y="4185572"/>
                </a:cubicBezTo>
                <a:cubicBezTo>
                  <a:pt x="1193523" y="4249919"/>
                  <a:pt x="976175" y="4149025"/>
                  <a:pt x="697609" y="4185572"/>
                </a:cubicBezTo>
                <a:cubicBezTo>
                  <a:pt x="308758" y="4089247"/>
                  <a:pt x="43450" y="3882302"/>
                  <a:pt x="0" y="3487963"/>
                </a:cubicBezTo>
                <a:cubicBezTo>
                  <a:pt x="-13622" y="3227483"/>
                  <a:pt x="55412" y="3054417"/>
                  <a:pt x="0" y="2929892"/>
                </a:cubicBezTo>
                <a:cubicBezTo>
                  <a:pt x="-55412" y="2805367"/>
                  <a:pt x="206" y="2578990"/>
                  <a:pt x="0" y="2371821"/>
                </a:cubicBezTo>
                <a:cubicBezTo>
                  <a:pt x="-206" y="2164652"/>
                  <a:pt x="28175" y="2047277"/>
                  <a:pt x="0" y="1869558"/>
                </a:cubicBezTo>
                <a:cubicBezTo>
                  <a:pt x="-28175" y="1691839"/>
                  <a:pt x="35336" y="1536680"/>
                  <a:pt x="0" y="1283583"/>
                </a:cubicBezTo>
                <a:cubicBezTo>
                  <a:pt x="-35336" y="1030486"/>
                  <a:pt x="60372" y="917749"/>
                  <a:pt x="0" y="697609"/>
                </a:cubicBezTo>
                <a:close/>
              </a:path>
            </a:pathLst>
          </a:custGeom>
          <a:noFill/>
          <a:ln w="15875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: Rounded Corners 3">
            <a:extLst>
              <a:ext uri="{FF2B5EF4-FFF2-40B4-BE49-F238E27FC236}">
                <a16:creationId xmlns:a16="http://schemas.microsoft.com/office/drawing/2014/main" id="{C591940B-CF3E-4724-925F-16A28D64D3D1}"/>
              </a:ext>
            </a:extLst>
          </p:cNvPr>
          <p:cNvSpPr/>
          <p:nvPr/>
        </p:nvSpPr>
        <p:spPr>
          <a:xfrm>
            <a:off x="312716" y="1984058"/>
            <a:ext cx="5288227" cy="4169152"/>
          </a:xfrm>
          <a:custGeom>
            <a:avLst/>
            <a:gdLst>
              <a:gd name="csX0" fmla="*/ 0 w 5288227"/>
              <a:gd name="csY0" fmla="*/ 694873 h 4169152"/>
              <a:gd name="csX1" fmla="*/ 694873 w 5288227"/>
              <a:gd name="csY1" fmla="*/ 0 h 4169152"/>
              <a:gd name="csX2" fmla="*/ 1329768 w 5288227"/>
              <a:gd name="csY2" fmla="*/ 0 h 4169152"/>
              <a:gd name="csX3" fmla="*/ 1847710 w 5288227"/>
              <a:gd name="csY3" fmla="*/ 0 h 4169152"/>
              <a:gd name="csX4" fmla="*/ 2326666 w 5288227"/>
              <a:gd name="csY4" fmla="*/ 0 h 4169152"/>
              <a:gd name="csX5" fmla="*/ 2922576 w 5288227"/>
              <a:gd name="csY5" fmla="*/ 0 h 4169152"/>
              <a:gd name="csX6" fmla="*/ 3440517 w 5288227"/>
              <a:gd name="csY6" fmla="*/ 0 h 4169152"/>
              <a:gd name="csX7" fmla="*/ 4075413 w 5288227"/>
              <a:gd name="csY7" fmla="*/ 0 h 4169152"/>
              <a:gd name="csX8" fmla="*/ 4593354 w 5288227"/>
              <a:gd name="csY8" fmla="*/ 0 h 4169152"/>
              <a:gd name="csX9" fmla="*/ 5288227 w 5288227"/>
              <a:gd name="csY9" fmla="*/ 694873 h 4169152"/>
              <a:gd name="csX10" fmla="*/ 5288227 w 5288227"/>
              <a:gd name="csY10" fmla="*/ 1195166 h 4169152"/>
              <a:gd name="csX11" fmla="*/ 5288227 w 5288227"/>
              <a:gd name="csY11" fmla="*/ 1751047 h 4169152"/>
              <a:gd name="csX12" fmla="*/ 5288227 w 5288227"/>
              <a:gd name="csY12" fmla="*/ 2279134 h 4169152"/>
              <a:gd name="csX13" fmla="*/ 5288227 w 5288227"/>
              <a:gd name="csY13" fmla="*/ 2890604 h 4169152"/>
              <a:gd name="csX14" fmla="*/ 5288227 w 5288227"/>
              <a:gd name="csY14" fmla="*/ 3474279 h 4169152"/>
              <a:gd name="csX15" fmla="*/ 4593354 w 5288227"/>
              <a:gd name="csY15" fmla="*/ 4169152 h 4169152"/>
              <a:gd name="csX16" fmla="*/ 3997443 w 5288227"/>
              <a:gd name="csY16" fmla="*/ 4169152 h 4169152"/>
              <a:gd name="csX17" fmla="*/ 3440517 w 5288227"/>
              <a:gd name="csY17" fmla="*/ 4169152 h 4169152"/>
              <a:gd name="csX18" fmla="*/ 3000546 w 5288227"/>
              <a:gd name="csY18" fmla="*/ 4169152 h 4169152"/>
              <a:gd name="csX19" fmla="*/ 2521590 w 5288227"/>
              <a:gd name="csY19" fmla="*/ 4169152 h 4169152"/>
              <a:gd name="csX20" fmla="*/ 1886694 w 5288227"/>
              <a:gd name="csY20" fmla="*/ 4169152 h 4169152"/>
              <a:gd name="csX21" fmla="*/ 1329768 w 5288227"/>
              <a:gd name="csY21" fmla="*/ 4169152 h 4169152"/>
              <a:gd name="csX22" fmla="*/ 694873 w 5288227"/>
              <a:gd name="csY22" fmla="*/ 4169152 h 4169152"/>
              <a:gd name="csX23" fmla="*/ 0 w 5288227"/>
              <a:gd name="csY23" fmla="*/ 3474279 h 4169152"/>
              <a:gd name="csX24" fmla="*/ 0 w 5288227"/>
              <a:gd name="csY24" fmla="*/ 2918398 h 4169152"/>
              <a:gd name="csX25" fmla="*/ 0 w 5288227"/>
              <a:gd name="csY25" fmla="*/ 2362517 h 4169152"/>
              <a:gd name="csX26" fmla="*/ 0 w 5288227"/>
              <a:gd name="csY26" fmla="*/ 1862224 h 4169152"/>
              <a:gd name="csX27" fmla="*/ 0 w 5288227"/>
              <a:gd name="csY27" fmla="*/ 1278548 h 4169152"/>
              <a:gd name="csX28" fmla="*/ 0 w 5288227"/>
              <a:gd name="csY28" fmla="*/ 694873 h 41691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5288227" h="4169152" extrusionOk="0">
                <a:moveTo>
                  <a:pt x="0" y="694873"/>
                </a:moveTo>
                <a:cubicBezTo>
                  <a:pt x="-84141" y="259205"/>
                  <a:pt x="214613" y="36215"/>
                  <a:pt x="694873" y="0"/>
                </a:cubicBezTo>
                <a:cubicBezTo>
                  <a:pt x="889723" y="-73881"/>
                  <a:pt x="1084208" y="70590"/>
                  <a:pt x="1329768" y="0"/>
                </a:cubicBezTo>
                <a:cubicBezTo>
                  <a:pt x="1575328" y="-70590"/>
                  <a:pt x="1728267" y="56973"/>
                  <a:pt x="1847710" y="0"/>
                </a:cubicBezTo>
                <a:cubicBezTo>
                  <a:pt x="1967153" y="-56973"/>
                  <a:pt x="2144104" y="12429"/>
                  <a:pt x="2326666" y="0"/>
                </a:cubicBezTo>
                <a:cubicBezTo>
                  <a:pt x="2509228" y="-12429"/>
                  <a:pt x="2695838" y="26885"/>
                  <a:pt x="2922576" y="0"/>
                </a:cubicBezTo>
                <a:cubicBezTo>
                  <a:pt x="3149314" y="-26885"/>
                  <a:pt x="3315366" y="19128"/>
                  <a:pt x="3440517" y="0"/>
                </a:cubicBezTo>
                <a:cubicBezTo>
                  <a:pt x="3565668" y="-19128"/>
                  <a:pt x="3796891" y="32529"/>
                  <a:pt x="4075413" y="0"/>
                </a:cubicBezTo>
                <a:cubicBezTo>
                  <a:pt x="4353935" y="-32529"/>
                  <a:pt x="4476006" y="17028"/>
                  <a:pt x="4593354" y="0"/>
                </a:cubicBezTo>
                <a:cubicBezTo>
                  <a:pt x="4943739" y="55224"/>
                  <a:pt x="5223082" y="235546"/>
                  <a:pt x="5288227" y="694873"/>
                </a:cubicBezTo>
                <a:cubicBezTo>
                  <a:pt x="5344639" y="829144"/>
                  <a:pt x="5243390" y="1065815"/>
                  <a:pt x="5288227" y="1195166"/>
                </a:cubicBezTo>
                <a:cubicBezTo>
                  <a:pt x="5333064" y="1324517"/>
                  <a:pt x="5268892" y="1487347"/>
                  <a:pt x="5288227" y="1751047"/>
                </a:cubicBezTo>
                <a:cubicBezTo>
                  <a:pt x="5307562" y="2014747"/>
                  <a:pt x="5269465" y="2120713"/>
                  <a:pt x="5288227" y="2279134"/>
                </a:cubicBezTo>
                <a:cubicBezTo>
                  <a:pt x="5306989" y="2437555"/>
                  <a:pt x="5255585" y="2708298"/>
                  <a:pt x="5288227" y="2890604"/>
                </a:cubicBezTo>
                <a:cubicBezTo>
                  <a:pt x="5320869" y="3072910"/>
                  <a:pt x="5233463" y="3330089"/>
                  <a:pt x="5288227" y="3474279"/>
                </a:cubicBezTo>
                <a:cubicBezTo>
                  <a:pt x="5238314" y="3866243"/>
                  <a:pt x="4957345" y="4155506"/>
                  <a:pt x="4593354" y="4169152"/>
                </a:cubicBezTo>
                <a:cubicBezTo>
                  <a:pt x="4375043" y="4239379"/>
                  <a:pt x="4293507" y="4106983"/>
                  <a:pt x="3997443" y="4169152"/>
                </a:cubicBezTo>
                <a:cubicBezTo>
                  <a:pt x="3701379" y="4231321"/>
                  <a:pt x="3634321" y="4139927"/>
                  <a:pt x="3440517" y="4169152"/>
                </a:cubicBezTo>
                <a:cubicBezTo>
                  <a:pt x="3246713" y="4198377"/>
                  <a:pt x="3167201" y="4125194"/>
                  <a:pt x="3000546" y="4169152"/>
                </a:cubicBezTo>
                <a:cubicBezTo>
                  <a:pt x="2833891" y="4213110"/>
                  <a:pt x="2693472" y="4162981"/>
                  <a:pt x="2521590" y="4169152"/>
                </a:cubicBezTo>
                <a:cubicBezTo>
                  <a:pt x="2349708" y="4175323"/>
                  <a:pt x="2037761" y="4148881"/>
                  <a:pt x="1886694" y="4169152"/>
                </a:cubicBezTo>
                <a:cubicBezTo>
                  <a:pt x="1735627" y="4189423"/>
                  <a:pt x="1443388" y="4144322"/>
                  <a:pt x="1329768" y="4169152"/>
                </a:cubicBezTo>
                <a:cubicBezTo>
                  <a:pt x="1216148" y="4193982"/>
                  <a:pt x="959783" y="4165326"/>
                  <a:pt x="694873" y="4169152"/>
                </a:cubicBezTo>
                <a:cubicBezTo>
                  <a:pt x="310605" y="4155667"/>
                  <a:pt x="48612" y="3868184"/>
                  <a:pt x="0" y="3474279"/>
                </a:cubicBezTo>
                <a:cubicBezTo>
                  <a:pt x="-56590" y="3293578"/>
                  <a:pt x="36778" y="3093597"/>
                  <a:pt x="0" y="2918398"/>
                </a:cubicBezTo>
                <a:cubicBezTo>
                  <a:pt x="-36778" y="2743199"/>
                  <a:pt x="44300" y="2624246"/>
                  <a:pt x="0" y="2362517"/>
                </a:cubicBezTo>
                <a:cubicBezTo>
                  <a:pt x="-44300" y="2100788"/>
                  <a:pt x="58726" y="2036346"/>
                  <a:pt x="0" y="1862224"/>
                </a:cubicBezTo>
                <a:cubicBezTo>
                  <a:pt x="-58726" y="1688102"/>
                  <a:pt x="3730" y="1524788"/>
                  <a:pt x="0" y="1278548"/>
                </a:cubicBezTo>
                <a:cubicBezTo>
                  <a:pt x="-3730" y="1032308"/>
                  <a:pt x="40193" y="969933"/>
                  <a:pt x="0" y="694873"/>
                </a:cubicBezTo>
                <a:close/>
              </a:path>
            </a:pathLst>
          </a:custGeom>
          <a:noFill/>
          <a:ln w="15875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39942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noProof="0" dirty="0">
                <a:latin typeface="+mj-lt"/>
              </a:rPr>
              <a:t>Múltiplos Recursos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CE3A20-6609-47B8-A19A-CA80D195CD8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96" b="89974" l="9934" r="96174">
                        <a14:foregroundMark x1="68286" y1="10807" x2="75497" y2="9505"/>
                        <a14:foregroundMark x1="75497" y1="9505" x2="83076" y2="16016"/>
                        <a14:foregroundMark x1="83076" y1="16016" x2="92494" y2="37891"/>
                        <a14:foregroundMark x1="92494" y1="37891" x2="92862" y2="51172"/>
                        <a14:foregroundMark x1="92862" y1="51172" x2="89404" y2="71224"/>
                        <a14:foregroundMark x1="96100" y1="40625" x2="96100" y2="40625"/>
                        <a14:foregroundMark x1="96174" y1="41536" x2="96100" y2="42188"/>
                        <a14:backgroundMark x1="96615" y1="42448" x2="95585" y2="54688"/>
                        <a14:backgroundMark x1="95585" y1="54688" x2="95806" y2="56120"/>
                      </a14:backgroundRemoval>
                    </a14:imgEffect>
                  </a14:imgLayer>
                </a14:imgProps>
              </a:ext>
            </a:extLst>
          </a:blip>
          <a:srcRect l="47806" t="2165" r="1777" b="7613"/>
          <a:stretch/>
        </p:blipFill>
        <p:spPr>
          <a:xfrm>
            <a:off x="6749006" y="699641"/>
            <a:ext cx="4914914" cy="5077391"/>
          </a:xfrm>
          <a:prstGeom prst="ellipse">
            <a:avLst/>
          </a:prstGeom>
          <a:effectLst>
            <a:outerShdw blurRad="546100" dist="152400" algn="tl" rotWithShape="0">
              <a:srgbClr val="00B0F0">
                <a:alpha val="40000"/>
              </a:srgbClr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9896074C-AB4E-48DC-815E-193F0260CEA5}"/>
              </a:ext>
            </a:extLst>
          </p:cNvPr>
          <p:cNvSpPr/>
          <p:nvPr/>
        </p:nvSpPr>
        <p:spPr>
          <a:xfrm>
            <a:off x="834587" y="2462405"/>
            <a:ext cx="641537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Atenção às convenções de nomenclatura</a:t>
            </a:r>
          </a:p>
          <a:p>
            <a:pPr algn="ctr">
              <a:spcAft>
                <a:spcPts val="1200"/>
              </a:spcAft>
            </a:pPr>
            <a:r>
              <a:rPr lang="pt-BR" sz="2400" noProof="0" dirty="0">
                <a:latin typeface="+mj-lt"/>
                <a:hlinkClick r:id="rId8"/>
              </a:rPr>
              <a:t>https://bit.ly/azurenames</a:t>
            </a:r>
            <a:endParaRPr lang="pt-BR" sz="2400" noProof="0" dirty="0">
              <a:latin typeface="+mj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Esteja atento a nomes únicos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Considere dependências entre recursos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Lembre-se que seu script pode combinar o uso de múltiplos provedores</a:t>
            </a:r>
          </a:p>
        </p:txBody>
      </p:sp>
    </p:spTree>
    <p:extLst>
      <p:ext uri="{BB962C8B-B14F-4D97-AF65-F5344CB8AC3E}">
        <p14:creationId xmlns:p14="http://schemas.microsoft.com/office/powerpoint/2010/main" val="576000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noProof="0" dirty="0">
                <a:latin typeface="+mj-lt"/>
              </a:rPr>
              <a:t>Múltiplos Recursos – Sobre os Nomes Únicos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9896074C-AB4E-48DC-815E-193F0260CEA5}"/>
              </a:ext>
            </a:extLst>
          </p:cNvPr>
          <p:cNvSpPr/>
          <p:nvPr/>
        </p:nvSpPr>
        <p:spPr>
          <a:xfrm>
            <a:off x="979597" y="1395067"/>
            <a:ext cx="1023280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No Azure,  os recursos precisam ter nomes únicos dentro do seu escopo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Alguns recursos tem escopo global, portanto é necessário atenção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+mj-lt"/>
              </a:rPr>
              <a:t>Uma alternativa é adicionar um valor aleatório para gerar um nome único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(locals.tf)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9F6AF30C-7EE7-4C68-92FA-ECAE91EBA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664" y="3641836"/>
            <a:ext cx="8066671" cy="3050027"/>
          </a:xfrm>
          <a:prstGeom prst="rect">
            <a:avLst/>
          </a:prstGeom>
          <a:effectLst>
            <a:outerShdw blurRad="241300" dist="63500" dir="18900000" algn="bl" rotWithShape="0">
              <a:schemeClr val="tx1"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0558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noProof="0" dirty="0">
                <a:latin typeface="+mj-lt"/>
              </a:rPr>
              <a:t>Múltiplos Recursos – Dependências Entre Recursos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9896074C-AB4E-48DC-815E-193F0260CEA5}"/>
              </a:ext>
            </a:extLst>
          </p:cNvPr>
          <p:cNvSpPr/>
          <p:nvPr/>
        </p:nvSpPr>
        <p:spPr>
          <a:xfrm>
            <a:off x="979597" y="1395067"/>
            <a:ext cx="1023280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Muitos recursos dependem de um recurso “pai”</a:t>
            </a:r>
          </a:p>
          <a:p>
            <a:pPr algn="just"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Nesses casos,  esteja atento a 2 pontos principais:</a:t>
            </a:r>
          </a:p>
          <a:p>
            <a:pPr algn="just"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O recurso “filho” deve ser implementado DEPOIS do “pai”. </a:t>
            </a:r>
          </a:p>
          <a:p>
            <a:pPr algn="just">
              <a:spcAft>
                <a:spcPts val="1200"/>
              </a:spcAft>
            </a:pPr>
            <a:r>
              <a:rPr lang="pt-BR" sz="2400" noProof="0" dirty="0">
                <a:latin typeface="+mj-lt"/>
              </a:rPr>
              <a:t>Garanta que o “pai” forneça as informações necessárias para definição do recurso “filho” </a:t>
            </a:r>
            <a:r>
              <a:rPr lang="pt-BR" sz="2400" noProof="0" dirty="0">
                <a:solidFill>
                  <a:srgbClr val="FFC000"/>
                </a:solidFill>
                <a:latin typeface="+mj-lt"/>
              </a:rPr>
              <a:t>(outputs.tf)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90310F8B-A45F-47F0-9232-158250FA47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41" y="3953487"/>
            <a:ext cx="5390792" cy="2400657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66D8B0AE-02D9-4C9A-9EA5-D77F0310CB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0284" y="3953487"/>
            <a:ext cx="6125525" cy="2400657"/>
          </a:xfrm>
          <a:prstGeom prst="rect">
            <a:avLst/>
          </a:prstGeom>
        </p:spPr>
      </p:pic>
      <p:sp>
        <p:nvSpPr>
          <p:cNvPr id="12" name="Rectangle: Rounded Corners 10">
            <a:extLst>
              <a:ext uri="{FF2B5EF4-FFF2-40B4-BE49-F238E27FC236}">
                <a16:creationId xmlns:a16="http://schemas.microsoft.com/office/drawing/2014/main" id="{8BBA17F5-BDF5-42D0-8C89-06B4403DA765}"/>
              </a:ext>
            </a:extLst>
          </p:cNvPr>
          <p:cNvSpPr/>
          <p:nvPr/>
        </p:nvSpPr>
        <p:spPr>
          <a:xfrm>
            <a:off x="753969" y="5330563"/>
            <a:ext cx="4783015" cy="794925"/>
          </a:xfrm>
          <a:custGeom>
            <a:avLst/>
            <a:gdLst>
              <a:gd name="csX0" fmla="*/ 0 w 4783015"/>
              <a:gd name="csY0" fmla="*/ 132490 h 794925"/>
              <a:gd name="csX1" fmla="*/ 132490 w 4783015"/>
              <a:gd name="csY1" fmla="*/ 0 h 794925"/>
              <a:gd name="csX2" fmla="*/ 787605 w 4783015"/>
              <a:gd name="csY2" fmla="*/ 0 h 794925"/>
              <a:gd name="csX3" fmla="*/ 1307179 w 4783015"/>
              <a:gd name="csY3" fmla="*/ 0 h 794925"/>
              <a:gd name="csX4" fmla="*/ 1781573 w 4783015"/>
              <a:gd name="csY4" fmla="*/ 0 h 794925"/>
              <a:gd name="csX5" fmla="*/ 2391508 w 4783015"/>
              <a:gd name="csY5" fmla="*/ 0 h 794925"/>
              <a:gd name="csX6" fmla="*/ 2911082 w 4783015"/>
              <a:gd name="csY6" fmla="*/ 0 h 794925"/>
              <a:gd name="csX7" fmla="*/ 3566197 w 4783015"/>
              <a:gd name="csY7" fmla="*/ 0 h 794925"/>
              <a:gd name="csX8" fmla="*/ 4040590 w 4783015"/>
              <a:gd name="csY8" fmla="*/ 0 h 794925"/>
              <a:gd name="csX9" fmla="*/ 4650525 w 4783015"/>
              <a:gd name="csY9" fmla="*/ 0 h 794925"/>
              <a:gd name="csX10" fmla="*/ 4783015 w 4783015"/>
              <a:gd name="csY10" fmla="*/ 132490 h 794925"/>
              <a:gd name="csX11" fmla="*/ 4783015 w 4783015"/>
              <a:gd name="csY11" fmla="*/ 662435 h 794925"/>
              <a:gd name="csX12" fmla="*/ 4650525 w 4783015"/>
              <a:gd name="csY12" fmla="*/ 794925 h 794925"/>
              <a:gd name="csX13" fmla="*/ 4085771 w 4783015"/>
              <a:gd name="csY13" fmla="*/ 794925 h 794925"/>
              <a:gd name="csX14" fmla="*/ 3611377 w 4783015"/>
              <a:gd name="csY14" fmla="*/ 794925 h 794925"/>
              <a:gd name="csX15" fmla="*/ 3046623 w 4783015"/>
              <a:gd name="csY15" fmla="*/ 794925 h 794925"/>
              <a:gd name="csX16" fmla="*/ 2391508 w 4783015"/>
              <a:gd name="csY16" fmla="*/ 794925 h 794925"/>
              <a:gd name="csX17" fmla="*/ 1826753 w 4783015"/>
              <a:gd name="csY17" fmla="*/ 794925 h 794925"/>
              <a:gd name="csX18" fmla="*/ 1397540 w 4783015"/>
              <a:gd name="csY18" fmla="*/ 794925 h 794925"/>
              <a:gd name="csX19" fmla="*/ 923146 w 4783015"/>
              <a:gd name="csY19" fmla="*/ 794925 h 794925"/>
              <a:gd name="csX20" fmla="*/ 132490 w 4783015"/>
              <a:gd name="csY20" fmla="*/ 794925 h 794925"/>
              <a:gd name="csX21" fmla="*/ 0 w 4783015"/>
              <a:gd name="csY21" fmla="*/ 662435 h 794925"/>
              <a:gd name="csX22" fmla="*/ 0 w 4783015"/>
              <a:gd name="csY22" fmla="*/ 132490 h 794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783015" h="794925" extrusionOk="0">
                <a:moveTo>
                  <a:pt x="0" y="132490"/>
                </a:moveTo>
                <a:cubicBezTo>
                  <a:pt x="-9212" y="53636"/>
                  <a:pt x="56630" y="1009"/>
                  <a:pt x="132490" y="0"/>
                </a:cubicBezTo>
                <a:cubicBezTo>
                  <a:pt x="442996" y="-54552"/>
                  <a:pt x="551194" y="34798"/>
                  <a:pt x="787605" y="0"/>
                </a:cubicBezTo>
                <a:cubicBezTo>
                  <a:pt x="1024017" y="-34798"/>
                  <a:pt x="1089517" y="51748"/>
                  <a:pt x="1307179" y="0"/>
                </a:cubicBezTo>
                <a:cubicBezTo>
                  <a:pt x="1524841" y="-51748"/>
                  <a:pt x="1560249" y="34425"/>
                  <a:pt x="1781573" y="0"/>
                </a:cubicBezTo>
                <a:cubicBezTo>
                  <a:pt x="2002897" y="-34425"/>
                  <a:pt x="2182469" y="54927"/>
                  <a:pt x="2391508" y="0"/>
                </a:cubicBezTo>
                <a:cubicBezTo>
                  <a:pt x="2600547" y="-54927"/>
                  <a:pt x="2751917" y="7853"/>
                  <a:pt x="2911082" y="0"/>
                </a:cubicBezTo>
                <a:cubicBezTo>
                  <a:pt x="3070247" y="-7853"/>
                  <a:pt x="3328621" y="66372"/>
                  <a:pt x="3566197" y="0"/>
                </a:cubicBezTo>
                <a:cubicBezTo>
                  <a:pt x="3803774" y="-66372"/>
                  <a:pt x="3936392" y="6643"/>
                  <a:pt x="4040590" y="0"/>
                </a:cubicBezTo>
                <a:cubicBezTo>
                  <a:pt x="4144788" y="-6643"/>
                  <a:pt x="4430002" y="50592"/>
                  <a:pt x="4650525" y="0"/>
                </a:cubicBezTo>
                <a:cubicBezTo>
                  <a:pt x="4727027" y="801"/>
                  <a:pt x="4776521" y="58268"/>
                  <a:pt x="4783015" y="132490"/>
                </a:cubicBezTo>
                <a:cubicBezTo>
                  <a:pt x="4829195" y="336803"/>
                  <a:pt x="4781510" y="478364"/>
                  <a:pt x="4783015" y="662435"/>
                </a:cubicBezTo>
                <a:cubicBezTo>
                  <a:pt x="4788106" y="730576"/>
                  <a:pt x="4732925" y="788974"/>
                  <a:pt x="4650525" y="794925"/>
                </a:cubicBezTo>
                <a:cubicBezTo>
                  <a:pt x="4440805" y="838250"/>
                  <a:pt x="4274863" y="787260"/>
                  <a:pt x="4085771" y="794925"/>
                </a:cubicBezTo>
                <a:cubicBezTo>
                  <a:pt x="3896679" y="802590"/>
                  <a:pt x="3717416" y="771641"/>
                  <a:pt x="3611377" y="794925"/>
                </a:cubicBezTo>
                <a:cubicBezTo>
                  <a:pt x="3505338" y="818209"/>
                  <a:pt x="3193422" y="780690"/>
                  <a:pt x="3046623" y="794925"/>
                </a:cubicBezTo>
                <a:cubicBezTo>
                  <a:pt x="2899824" y="809160"/>
                  <a:pt x="2592802" y="777821"/>
                  <a:pt x="2391508" y="794925"/>
                </a:cubicBezTo>
                <a:cubicBezTo>
                  <a:pt x="2190215" y="812029"/>
                  <a:pt x="2095394" y="728180"/>
                  <a:pt x="1826753" y="794925"/>
                </a:cubicBezTo>
                <a:cubicBezTo>
                  <a:pt x="1558113" y="861670"/>
                  <a:pt x="1554743" y="760971"/>
                  <a:pt x="1397540" y="794925"/>
                </a:cubicBezTo>
                <a:cubicBezTo>
                  <a:pt x="1240337" y="828879"/>
                  <a:pt x="1082300" y="751352"/>
                  <a:pt x="923146" y="794925"/>
                </a:cubicBezTo>
                <a:cubicBezTo>
                  <a:pt x="763992" y="838498"/>
                  <a:pt x="369309" y="747075"/>
                  <a:pt x="132490" y="794925"/>
                </a:cubicBezTo>
                <a:cubicBezTo>
                  <a:pt x="75368" y="791529"/>
                  <a:pt x="1484" y="749702"/>
                  <a:pt x="0" y="662435"/>
                </a:cubicBezTo>
                <a:cubicBezTo>
                  <a:pt x="-40863" y="462665"/>
                  <a:pt x="16163" y="306319"/>
                  <a:pt x="0" y="132490"/>
                </a:cubicBezTo>
                <a:close/>
              </a:path>
            </a:pathLst>
          </a:custGeom>
          <a:noFill/>
          <a:ln w="15875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: Rounded Corners 11">
            <a:extLst>
              <a:ext uri="{FF2B5EF4-FFF2-40B4-BE49-F238E27FC236}">
                <a16:creationId xmlns:a16="http://schemas.microsoft.com/office/drawing/2014/main" id="{B3968E7C-26D0-4827-80B8-0466CB321047}"/>
              </a:ext>
            </a:extLst>
          </p:cNvPr>
          <p:cNvSpPr/>
          <p:nvPr/>
        </p:nvSpPr>
        <p:spPr>
          <a:xfrm>
            <a:off x="6492599" y="4928660"/>
            <a:ext cx="5294459" cy="260009"/>
          </a:xfrm>
          <a:custGeom>
            <a:avLst/>
            <a:gdLst>
              <a:gd name="csX0" fmla="*/ 0 w 5294459"/>
              <a:gd name="csY0" fmla="*/ 43336 h 260009"/>
              <a:gd name="csX1" fmla="*/ 43336 w 5294459"/>
              <a:gd name="csY1" fmla="*/ 0 h 260009"/>
              <a:gd name="csX2" fmla="*/ 726135 w 5294459"/>
              <a:gd name="csY2" fmla="*/ 0 h 260009"/>
              <a:gd name="csX3" fmla="*/ 1252700 w 5294459"/>
              <a:gd name="csY3" fmla="*/ 0 h 260009"/>
              <a:gd name="csX4" fmla="*/ 1727187 w 5294459"/>
              <a:gd name="csY4" fmla="*/ 0 h 260009"/>
              <a:gd name="csX5" fmla="*/ 2357908 w 5294459"/>
              <a:gd name="csY5" fmla="*/ 0 h 260009"/>
              <a:gd name="csX6" fmla="*/ 2884473 w 5294459"/>
              <a:gd name="csY6" fmla="*/ 0 h 260009"/>
              <a:gd name="csX7" fmla="*/ 3567272 w 5294459"/>
              <a:gd name="csY7" fmla="*/ 0 h 260009"/>
              <a:gd name="csX8" fmla="*/ 4041759 w 5294459"/>
              <a:gd name="csY8" fmla="*/ 0 h 260009"/>
              <a:gd name="csX9" fmla="*/ 4724558 w 5294459"/>
              <a:gd name="csY9" fmla="*/ 0 h 260009"/>
              <a:gd name="csX10" fmla="*/ 5251123 w 5294459"/>
              <a:gd name="csY10" fmla="*/ 0 h 260009"/>
              <a:gd name="csX11" fmla="*/ 5294459 w 5294459"/>
              <a:gd name="csY11" fmla="*/ 43336 h 260009"/>
              <a:gd name="csX12" fmla="*/ 5294459 w 5294459"/>
              <a:gd name="csY12" fmla="*/ 216673 h 260009"/>
              <a:gd name="csX13" fmla="*/ 5251123 w 5294459"/>
              <a:gd name="csY13" fmla="*/ 260009 h 260009"/>
              <a:gd name="csX14" fmla="*/ 4672480 w 5294459"/>
              <a:gd name="csY14" fmla="*/ 260009 h 260009"/>
              <a:gd name="csX15" fmla="*/ 4093837 w 5294459"/>
              <a:gd name="csY15" fmla="*/ 260009 h 260009"/>
              <a:gd name="csX16" fmla="*/ 3411038 w 5294459"/>
              <a:gd name="csY16" fmla="*/ 260009 h 260009"/>
              <a:gd name="csX17" fmla="*/ 2832395 w 5294459"/>
              <a:gd name="csY17" fmla="*/ 260009 h 260009"/>
              <a:gd name="csX18" fmla="*/ 2409986 w 5294459"/>
              <a:gd name="csY18" fmla="*/ 260009 h 260009"/>
              <a:gd name="csX19" fmla="*/ 1935499 w 5294459"/>
              <a:gd name="csY19" fmla="*/ 260009 h 260009"/>
              <a:gd name="csX20" fmla="*/ 1252700 w 5294459"/>
              <a:gd name="csY20" fmla="*/ 260009 h 260009"/>
              <a:gd name="csX21" fmla="*/ 674057 w 5294459"/>
              <a:gd name="csY21" fmla="*/ 260009 h 260009"/>
              <a:gd name="csX22" fmla="*/ 43336 w 5294459"/>
              <a:gd name="csY22" fmla="*/ 260009 h 260009"/>
              <a:gd name="csX23" fmla="*/ 0 w 5294459"/>
              <a:gd name="csY23" fmla="*/ 216673 h 260009"/>
              <a:gd name="csX24" fmla="*/ 0 w 5294459"/>
              <a:gd name="csY24" fmla="*/ 43336 h 2600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94459" h="260009" extrusionOk="0">
                <a:moveTo>
                  <a:pt x="0" y="43336"/>
                </a:moveTo>
                <a:cubicBezTo>
                  <a:pt x="-4848" y="16412"/>
                  <a:pt x="13952" y="2045"/>
                  <a:pt x="43336" y="0"/>
                </a:cubicBezTo>
                <a:cubicBezTo>
                  <a:pt x="220914" y="-43545"/>
                  <a:pt x="579614" y="65097"/>
                  <a:pt x="726135" y="0"/>
                </a:cubicBezTo>
                <a:cubicBezTo>
                  <a:pt x="872656" y="-65097"/>
                  <a:pt x="1005823" y="49741"/>
                  <a:pt x="1252700" y="0"/>
                </a:cubicBezTo>
                <a:cubicBezTo>
                  <a:pt x="1499577" y="-49741"/>
                  <a:pt x="1503724" y="18947"/>
                  <a:pt x="1727187" y="0"/>
                </a:cubicBezTo>
                <a:cubicBezTo>
                  <a:pt x="1950650" y="-18947"/>
                  <a:pt x="2082037" y="74165"/>
                  <a:pt x="2357908" y="0"/>
                </a:cubicBezTo>
                <a:cubicBezTo>
                  <a:pt x="2633779" y="-74165"/>
                  <a:pt x="2667076" y="45762"/>
                  <a:pt x="2884473" y="0"/>
                </a:cubicBezTo>
                <a:cubicBezTo>
                  <a:pt x="3101871" y="-45762"/>
                  <a:pt x="3238755" y="34205"/>
                  <a:pt x="3567272" y="0"/>
                </a:cubicBezTo>
                <a:cubicBezTo>
                  <a:pt x="3895789" y="-34205"/>
                  <a:pt x="3930153" y="33985"/>
                  <a:pt x="4041759" y="0"/>
                </a:cubicBezTo>
                <a:cubicBezTo>
                  <a:pt x="4153365" y="-33985"/>
                  <a:pt x="4446598" y="67212"/>
                  <a:pt x="4724558" y="0"/>
                </a:cubicBezTo>
                <a:cubicBezTo>
                  <a:pt x="5002518" y="-67212"/>
                  <a:pt x="5067314" y="16858"/>
                  <a:pt x="5251123" y="0"/>
                </a:cubicBezTo>
                <a:cubicBezTo>
                  <a:pt x="5270336" y="-270"/>
                  <a:pt x="5294963" y="18020"/>
                  <a:pt x="5294459" y="43336"/>
                </a:cubicBezTo>
                <a:cubicBezTo>
                  <a:pt x="5304084" y="104319"/>
                  <a:pt x="5294331" y="173088"/>
                  <a:pt x="5294459" y="216673"/>
                </a:cubicBezTo>
                <a:cubicBezTo>
                  <a:pt x="5297415" y="244227"/>
                  <a:pt x="5279910" y="255760"/>
                  <a:pt x="5251123" y="260009"/>
                </a:cubicBezTo>
                <a:cubicBezTo>
                  <a:pt x="4981305" y="283580"/>
                  <a:pt x="4910545" y="255605"/>
                  <a:pt x="4672480" y="260009"/>
                </a:cubicBezTo>
                <a:cubicBezTo>
                  <a:pt x="4434415" y="264413"/>
                  <a:pt x="4224012" y="213259"/>
                  <a:pt x="4093837" y="260009"/>
                </a:cubicBezTo>
                <a:cubicBezTo>
                  <a:pt x="3963662" y="306759"/>
                  <a:pt x="3614642" y="194812"/>
                  <a:pt x="3411038" y="260009"/>
                </a:cubicBezTo>
                <a:cubicBezTo>
                  <a:pt x="3207434" y="325206"/>
                  <a:pt x="3094978" y="235469"/>
                  <a:pt x="2832395" y="260009"/>
                </a:cubicBezTo>
                <a:cubicBezTo>
                  <a:pt x="2569812" y="284549"/>
                  <a:pt x="2567585" y="231884"/>
                  <a:pt x="2409986" y="260009"/>
                </a:cubicBezTo>
                <a:cubicBezTo>
                  <a:pt x="2252387" y="288134"/>
                  <a:pt x="2119530" y="243743"/>
                  <a:pt x="1935499" y="260009"/>
                </a:cubicBezTo>
                <a:cubicBezTo>
                  <a:pt x="1751468" y="276275"/>
                  <a:pt x="1435677" y="214657"/>
                  <a:pt x="1252700" y="260009"/>
                </a:cubicBezTo>
                <a:cubicBezTo>
                  <a:pt x="1069723" y="305361"/>
                  <a:pt x="951429" y="221587"/>
                  <a:pt x="674057" y="260009"/>
                </a:cubicBezTo>
                <a:cubicBezTo>
                  <a:pt x="396685" y="298431"/>
                  <a:pt x="276148" y="216051"/>
                  <a:pt x="43336" y="260009"/>
                </a:cubicBezTo>
                <a:cubicBezTo>
                  <a:pt x="19246" y="255789"/>
                  <a:pt x="1686" y="240959"/>
                  <a:pt x="0" y="216673"/>
                </a:cubicBezTo>
                <a:cubicBezTo>
                  <a:pt x="-4549" y="163850"/>
                  <a:pt x="6189" y="128267"/>
                  <a:pt x="0" y="43336"/>
                </a:cubicBezTo>
                <a:close/>
              </a:path>
            </a:pathLst>
          </a:custGeom>
          <a:noFill/>
          <a:ln w="15875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: Rounded Corners 12">
            <a:extLst>
              <a:ext uri="{FF2B5EF4-FFF2-40B4-BE49-F238E27FC236}">
                <a16:creationId xmlns:a16="http://schemas.microsoft.com/office/drawing/2014/main" id="{4E60F619-B5DF-49D7-AFA0-57895C7144CD}"/>
              </a:ext>
            </a:extLst>
          </p:cNvPr>
          <p:cNvSpPr/>
          <p:nvPr/>
        </p:nvSpPr>
        <p:spPr>
          <a:xfrm>
            <a:off x="6507881" y="5768511"/>
            <a:ext cx="5294459" cy="260009"/>
          </a:xfrm>
          <a:custGeom>
            <a:avLst/>
            <a:gdLst>
              <a:gd name="csX0" fmla="*/ 0 w 5294459"/>
              <a:gd name="csY0" fmla="*/ 43336 h 260009"/>
              <a:gd name="csX1" fmla="*/ 43336 w 5294459"/>
              <a:gd name="csY1" fmla="*/ 0 h 260009"/>
              <a:gd name="csX2" fmla="*/ 726135 w 5294459"/>
              <a:gd name="csY2" fmla="*/ 0 h 260009"/>
              <a:gd name="csX3" fmla="*/ 1252700 w 5294459"/>
              <a:gd name="csY3" fmla="*/ 0 h 260009"/>
              <a:gd name="csX4" fmla="*/ 1727187 w 5294459"/>
              <a:gd name="csY4" fmla="*/ 0 h 260009"/>
              <a:gd name="csX5" fmla="*/ 2357908 w 5294459"/>
              <a:gd name="csY5" fmla="*/ 0 h 260009"/>
              <a:gd name="csX6" fmla="*/ 2884473 w 5294459"/>
              <a:gd name="csY6" fmla="*/ 0 h 260009"/>
              <a:gd name="csX7" fmla="*/ 3567272 w 5294459"/>
              <a:gd name="csY7" fmla="*/ 0 h 260009"/>
              <a:gd name="csX8" fmla="*/ 4041759 w 5294459"/>
              <a:gd name="csY8" fmla="*/ 0 h 260009"/>
              <a:gd name="csX9" fmla="*/ 4724558 w 5294459"/>
              <a:gd name="csY9" fmla="*/ 0 h 260009"/>
              <a:gd name="csX10" fmla="*/ 5251123 w 5294459"/>
              <a:gd name="csY10" fmla="*/ 0 h 260009"/>
              <a:gd name="csX11" fmla="*/ 5294459 w 5294459"/>
              <a:gd name="csY11" fmla="*/ 43336 h 260009"/>
              <a:gd name="csX12" fmla="*/ 5294459 w 5294459"/>
              <a:gd name="csY12" fmla="*/ 216673 h 260009"/>
              <a:gd name="csX13" fmla="*/ 5251123 w 5294459"/>
              <a:gd name="csY13" fmla="*/ 260009 h 260009"/>
              <a:gd name="csX14" fmla="*/ 4672480 w 5294459"/>
              <a:gd name="csY14" fmla="*/ 260009 h 260009"/>
              <a:gd name="csX15" fmla="*/ 4093837 w 5294459"/>
              <a:gd name="csY15" fmla="*/ 260009 h 260009"/>
              <a:gd name="csX16" fmla="*/ 3411038 w 5294459"/>
              <a:gd name="csY16" fmla="*/ 260009 h 260009"/>
              <a:gd name="csX17" fmla="*/ 2832395 w 5294459"/>
              <a:gd name="csY17" fmla="*/ 260009 h 260009"/>
              <a:gd name="csX18" fmla="*/ 2409986 w 5294459"/>
              <a:gd name="csY18" fmla="*/ 260009 h 260009"/>
              <a:gd name="csX19" fmla="*/ 1935499 w 5294459"/>
              <a:gd name="csY19" fmla="*/ 260009 h 260009"/>
              <a:gd name="csX20" fmla="*/ 1252700 w 5294459"/>
              <a:gd name="csY20" fmla="*/ 260009 h 260009"/>
              <a:gd name="csX21" fmla="*/ 674057 w 5294459"/>
              <a:gd name="csY21" fmla="*/ 260009 h 260009"/>
              <a:gd name="csX22" fmla="*/ 43336 w 5294459"/>
              <a:gd name="csY22" fmla="*/ 260009 h 260009"/>
              <a:gd name="csX23" fmla="*/ 0 w 5294459"/>
              <a:gd name="csY23" fmla="*/ 216673 h 260009"/>
              <a:gd name="csX24" fmla="*/ 0 w 5294459"/>
              <a:gd name="csY24" fmla="*/ 43336 h 2600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94459" h="260009" extrusionOk="0">
                <a:moveTo>
                  <a:pt x="0" y="43336"/>
                </a:moveTo>
                <a:cubicBezTo>
                  <a:pt x="-4848" y="16412"/>
                  <a:pt x="13952" y="2045"/>
                  <a:pt x="43336" y="0"/>
                </a:cubicBezTo>
                <a:cubicBezTo>
                  <a:pt x="220914" y="-43545"/>
                  <a:pt x="579614" y="65097"/>
                  <a:pt x="726135" y="0"/>
                </a:cubicBezTo>
                <a:cubicBezTo>
                  <a:pt x="872656" y="-65097"/>
                  <a:pt x="1005823" y="49741"/>
                  <a:pt x="1252700" y="0"/>
                </a:cubicBezTo>
                <a:cubicBezTo>
                  <a:pt x="1499577" y="-49741"/>
                  <a:pt x="1503724" y="18947"/>
                  <a:pt x="1727187" y="0"/>
                </a:cubicBezTo>
                <a:cubicBezTo>
                  <a:pt x="1950650" y="-18947"/>
                  <a:pt x="2082037" y="74165"/>
                  <a:pt x="2357908" y="0"/>
                </a:cubicBezTo>
                <a:cubicBezTo>
                  <a:pt x="2633779" y="-74165"/>
                  <a:pt x="2667076" y="45762"/>
                  <a:pt x="2884473" y="0"/>
                </a:cubicBezTo>
                <a:cubicBezTo>
                  <a:pt x="3101871" y="-45762"/>
                  <a:pt x="3238755" y="34205"/>
                  <a:pt x="3567272" y="0"/>
                </a:cubicBezTo>
                <a:cubicBezTo>
                  <a:pt x="3895789" y="-34205"/>
                  <a:pt x="3930153" y="33985"/>
                  <a:pt x="4041759" y="0"/>
                </a:cubicBezTo>
                <a:cubicBezTo>
                  <a:pt x="4153365" y="-33985"/>
                  <a:pt x="4446598" y="67212"/>
                  <a:pt x="4724558" y="0"/>
                </a:cubicBezTo>
                <a:cubicBezTo>
                  <a:pt x="5002518" y="-67212"/>
                  <a:pt x="5067314" y="16858"/>
                  <a:pt x="5251123" y="0"/>
                </a:cubicBezTo>
                <a:cubicBezTo>
                  <a:pt x="5270336" y="-270"/>
                  <a:pt x="5294963" y="18020"/>
                  <a:pt x="5294459" y="43336"/>
                </a:cubicBezTo>
                <a:cubicBezTo>
                  <a:pt x="5304084" y="104319"/>
                  <a:pt x="5294331" y="173088"/>
                  <a:pt x="5294459" y="216673"/>
                </a:cubicBezTo>
                <a:cubicBezTo>
                  <a:pt x="5297415" y="244227"/>
                  <a:pt x="5279910" y="255760"/>
                  <a:pt x="5251123" y="260009"/>
                </a:cubicBezTo>
                <a:cubicBezTo>
                  <a:pt x="4981305" y="283580"/>
                  <a:pt x="4910545" y="255605"/>
                  <a:pt x="4672480" y="260009"/>
                </a:cubicBezTo>
                <a:cubicBezTo>
                  <a:pt x="4434415" y="264413"/>
                  <a:pt x="4224012" y="213259"/>
                  <a:pt x="4093837" y="260009"/>
                </a:cubicBezTo>
                <a:cubicBezTo>
                  <a:pt x="3963662" y="306759"/>
                  <a:pt x="3614642" y="194812"/>
                  <a:pt x="3411038" y="260009"/>
                </a:cubicBezTo>
                <a:cubicBezTo>
                  <a:pt x="3207434" y="325206"/>
                  <a:pt x="3094978" y="235469"/>
                  <a:pt x="2832395" y="260009"/>
                </a:cubicBezTo>
                <a:cubicBezTo>
                  <a:pt x="2569812" y="284549"/>
                  <a:pt x="2567585" y="231884"/>
                  <a:pt x="2409986" y="260009"/>
                </a:cubicBezTo>
                <a:cubicBezTo>
                  <a:pt x="2252387" y="288134"/>
                  <a:pt x="2119530" y="243743"/>
                  <a:pt x="1935499" y="260009"/>
                </a:cubicBezTo>
                <a:cubicBezTo>
                  <a:pt x="1751468" y="276275"/>
                  <a:pt x="1435677" y="214657"/>
                  <a:pt x="1252700" y="260009"/>
                </a:cubicBezTo>
                <a:cubicBezTo>
                  <a:pt x="1069723" y="305361"/>
                  <a:pt x="951429" y="221587"/>
                  <a:pt x="674057" y="260009"/>
                </a:cubicBezTo>
                <a:cubicBezTo>
                  <a:pt x="396685" y="298431"/>
                  <a:pt x="276148" y="216051"/>
                  <a:pt x="43336" y="260009"/>
                </a:cubicBezTo>
                <a:cubicBezTo>
                  <a:pt x="19246" y="255789"/>
                  <a:pt x="1686" y="240959"/>
                  <a:pt x="0" y="216673"/>
                </a:cubicBezTo>
                <a:cubicBezTo>
                  <a:pt x="-4549" y="163850"/>
                  <a:pt x="6189" y="128267"/>
                  <a:pt x="0" y="43336"/>
                </a:cubicBezTo>
                <a:close/>
              </a:path>
            </a:pathLst>
          </a:custGeom>
          <a:noFill/>
          <a:ln w="15875">
            <a:solidFill>
              <a:schemeClr val="accent3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8437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noProof="0" dirty="0">
                <a:latin typeface="+mj-lt"/>
              </a:rPr>
              <a:t>Múltiplos Recursos – Mensagens Exibidas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2E76D43-1B2E-4983-8B95-8B52E2E4319C}"/>
              </a:ext>
            </a:extLst>
          </p:cNvPr>
          <p:cNvSpPr txBox="1"/>
          <p:nvPr/>
        </p:nvSpPr>
        <p:spPr>
          <a:xfrm>
            <a:off x="886776" y="1418895"/>
            <a:ext cx="10706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noProof="0" dirty="0">
                <a:latin typeface="+mj-lt"/>
              </a:rPr>
              <a:t>Terraform apresentação mensagens de status durante a implementação (CMD)</a:t>
            </a:r>
          </a:p>
          <a:p>
            <a:endParaRPr lang="pt-BR" sz="2400" noProof="0" dirty="0">
              <a:latin typeface="+mj-lt"/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E7258E5E-BFB8-494C-9AA2-259D8DD88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54" y="1970684"/>
            <a:ext cx="10330304" cy="461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32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2C21C9-E92E-43A1-B4FF-2AA9007D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27B45F6-79D5-432A-A653-D43217D00B98}"/>
              </a:ext>
            </a:extLst>
          </p:cNvPr>
          <p:cNvSpPr/>
          <p:nvPr/>
        </p:nvSpPr>
        <p:spPr>
          <a:xfrm>
            <a:off x="-13309599" y="-13343524"/>
            <a:ext cx="28671108" cy="2867110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6AE0A1-22DF-4457-A6BE-66CCD0B7525B}"/>
              </a:ext>
            </a:extLst>
          </p:cNvPr>
          <p:cNvSpPr txBox="1"/>
          <p:nvPr/>
        </p:nvSpPr>
        <p:spPr>
          <a:xfrm>
            <a:off x="1760482" y="699641"/>
            <a:ext cx="9595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noProof="0" dirty="0">
                <a:latin typeface="+mj-lt"/>
              </a:rPr>
              <a:t>REFERÊNCIAS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80B7B-793D-45B4-8359-24C0DFA4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88" y="565163"/>
            <a:ext cx="853732" cy="853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4726943-16C8-4DE0-9C6A-04F54D0009DE}"/>
              </a:ext>
            </a:extLst>
          </p:cNvPr>
          <p:cNvSpPr txBox="1"/>
          <p:nvPr/>
        </p:nvSpPr>
        <p:spPr>
          <a:xfrm>
            <a:off x="889321" y="1418895"/>
            <a:ext cx="1070359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noProof="0" dirty="0">
                <a:latin typeface="+mj-lt"/>
              </a:rPr>
              <a:t>GitHub – All Files Presented in this Workshop: </a:t>
            </a:r>
          </a:p>
          <a:p>
            <a:pPr algn="just"/>
            <a:r>
              <a:rPr lang="pt-BR" sz="2400" noProof="0" dirty="0">
                <a:solidFill>
                  <a:srgbClr val="0070C0"/>
                </a:solidFill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https://github.com/wcrivelini/articles/tree/main/Azure_Terraform</a:t>
            </a:r>
            <a:endParaRPr lang="pt-BR" sz="2400" noProof="0" dirty="0">
              <a:solidFill>
                <a:srgbClr val="0070C0"/>
              </a:solidFill>
              <a:latin typeface="+mj-lt"/>
            </a:endParaRPr>
          </a:p>
          <a:p>
            <a:pPr algn="just"/>
            <a:endParaRPr lang="pt-BR" sz="2800" noProof="0" dirty="0">
              <a:latin typeface="+mj-lt"/>
            </a:endParaRPr>
          </a:p>
          <a:p>
            <a:pPr algn="just"/>
            <a:r>
              <a:rPr lang="pt-BR" sz="2800" noProof="0" dirty="0">
                <a:latin typeface="+mj-lt"/>
              </a:rPr>
              <a:t>Database Deployment with Terraform - The Basics: </a:t>
            </a:r>
          </a:p>
          <a:p>
            <a:pPr algn="just"/>
            <a:r>
              <a:rPr lang="pt-BR" sz="2400" noProof="0" dirty="0">
                <a:solidFill>
                  <a:srgbClr val="0070C0"/>
                </a:solidFill>
                <a:latin typeface="+mj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https://www.sqlservercentral.com/articles/database-deployment-with-terraform-the-basics</a:t>
            </a:r>
            <a:endParaRPr lang="pt-BR" sz="2400" noProof="0" dirty="0">
              <a:solidFill>
                <a:srgbClr val="0070C0"/>
              </a:solidFill>
              <a:latin typeface="+mj-lt"/>
            </a:endParaRPr>
          </a:p>
          <a:p>
            <a:pPr algn="just"/>
            <a:endParaRPr lang="pt-BR" sz="2800" noProof="0" dirty="0">
              <a:latin typeface="+mj-lt"/>
            </a:endParaRPr>
          </a:p>
          <a:p>
            <a:pPr algn="just"/>
            <a:r>
              <a:rPr lang="pt-BR" sz="2800" noProof="0" dirty="0">
                <a:latin typeface="+mj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 Deployment with Terraform – Modules</a:t>
            </a:r>
            <a:r>
              <a:rPr lang="pt-BR" sz="2800" noProof="0" dirty="0">
                <a:latin typeface="+mj-lt"/>
              </a:rPr>
              <a:t>: </a:t>
            </a:r>
          </a:p>
          <a:p>
            <a:pPr algn="just"/>
            <a:r>
              <a:rPr lang="pt-BR" sz="2400" noProof="0" dirty="0">
                <a:solidFill>
                  <a:srgbClr val="0070C0"/>
                </a:solidFill>
                <a:latin typeface="+mj-lt"/>
              </a:rPr>
              <a:t>https://www.sqlservercentral.com/articles/database-deployment-with-terraform-modules</a:t>
            </a:r>
          </a:p>
          <a:p>
            <a:endParaRPr lang="pt-BR" sz="24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694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{FD1F6431-0232-4CF5-8259-5D610C3ED3D2}tf33713516_win32</Template>
  <TotalTime>16331</TotalTime>
  <Words>1182</Words>
  <Application>Microsoft Office PowerPoint</Application>
  <PresentationFormat>Widescreen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Consolas</vt:lpstr>
      <vt:lpstr>Gill Sans MT</vt:lpstr>
      <vt:lpstr>Lucida Sans Typewriter</vt:lpstr>
      <vt:lpstr>Times New Roman</vt:lpstr>
      <vt:lpstr>Walbaum Display</vt:lpstr>
      <vt:lpstr>Walbaum Display (Títulos)</vt:lpstr>
      <vt:lpstr>3DFloatVTI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Ingesting Real-Time Data with MS FABRIC and KUSTO</dc:title>
  <dc:creator>Wagner Crivelini</dc:creator>
  <cp:lastModifiedBy>wagner crivelini</cp:lastModifiedBy>
  <cp:revision>56</cp:revision>
  <dcterms:created xsi:type="dcterms:W3CDTF">2023-09-25T13:46:23Z</dcterms:created>
  <dcterms:modified xsi:type="dcterms:W3CDTF">2026-10-27T20:02:30Z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